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64" r:id="rId3"/>
    <p:sldId id="268" r:id="rId4"/>
    <p:sldId id="267" r:id="rId5"/>
    <p:sldId id="271" r:id="rId6"/>
    <p:sldId id="270" r:id="rId7"/>
    <p:sldId id="262" r:id="rId8"/>
    <p:sldId id="273" r:id="rId9"/>
    <p:sldId id="272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17" autoAdjust="0"/>
    <p:restoredTop sz="94660"/>
  </p:normalViewPr>
  <p:slideViewPr>
    <p:cSldViewPr snapToGrid="0">
      <p:cViewPr varScale="1">
        <p:scale>
          <a:sx n="72" d="100"/>
          <a:sy n="72" d="100"/>
        </p:scale>
        <p:origin x="2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37887B19-F53D-4BD7-9222-3E7F0FAF0826}"/>
              </a:ext>
            </a:extLst>
          </p:cNvPr>
          <p:cNvSpPr>
            <a:spLocks/>
          </p:cNvSpPr>
          <p:nvPr userDrawn="1"/>
        </p:nvSpPr>
        <p:spPr bwMode="auto">
          <a:xfrm rot="859120" flipH="1">
            <a:off x="-1381342" y="-1207692"/>
            <a:ext cx="3371272" cy="8927307"/>
          </a:xfrm>
          <a:prstGeom prst="rect">
            <a:avLst/>
          </a:prstGeom>
          <a:gradFill rotWithShape="0">
            <a:gsLst>
              <a:gs pos="57000">
                <a:srgbClr val="549FF3"/>
              </a:gs>
              <a:gs pos="100000">
                <a:srgbClr val="3D36BA"/>
              </a:gs>
            </a:gsLst>
            <a:lin ang="5400000"/>
          </a:gradFill>
          <a:ln>
            <a:noFill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>
            <a:lvl1pPr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ctr" eaLnBrk="1"/>
            <a:endParaRPr lang="zh-CN" altLang="zh-CN" sz="1600">
              <a:solidFill>
                <a:srgbClr val="FFFFFF"/>
              </a:solidFill>
              <a:ea typeface="SimSun" panose="02010600030101010101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3599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r">
              <a:buNone/>
              <a:defRPr sz="28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2C2E44-293D-4CE9-B437-38578EAF30C8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78D8BECF-B51D-4F69-A4D2-B460B91F34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4618"/>
            <a:ext cx="2659642" cy="132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95BF15-D72E-4E4E-91BA-005481991A52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56C3853D-7FF2-466F-ABFC-F4D315C345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0512B6-C6BE-4337-A445-D3A171D563C3}" type="slidenum">
              <a:rPr lang="zh-CN" altLang="zh-CN"/>
              <a:pPr/>
              <a:t>‹#›</a:t>
            </a:fld>
            <a:endParaRPr lang="zh-CN" altLang="zh-C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C337904-0B9E-4176-9C06-8DAC328C06DE}"/>
              </a:ext>
            </a:extLst>
          </p:cNvPr>
          <p:cNvSpPr>
            <a:spLocks/>
          </p:cNvSpPr>
          <p:nvPr userDrawn="1"/>
        </p:nvSpPr>
        <p:spPr bwMode="auto">
          <a:xfrm rot="859120" flipH="1">
            <a:off x="-1381342" y="-1207692"/>
            <a:ext cx="3371272" cy="8927307"/>
          </a:xfrm>
          <a:prstGeom prst="rect">
            <a:avLst/>
          </a:prstGeom>
          <a:gradFill rotWithShape="0">
            <a:gsLst>
              <a:gs pos="58000">
                <a:srgbClr val="549FF3"/>
              </a:gs>
              <a:gs pos="100000">
                <a:srgbClr val="3D36BA"/>
              </a:gs>
            </a:gsLst>
            <a:lin ang="5400000"/>
          </a:gradFill>
          <a:ln>
            <a:noFill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>
            <a:lvl1pPr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ctr" eaLnBrk="1"/>
            <a:endParaRPr lang="zh-CN" altLang="zh-CN" sz="1600">
              <a:solidFill>
                <a:srgbClr val="FFFFFF"/>
              </a:solidFill>
              <a:ea typeface="SimSun" panose="02010600030101010101" pitchFamily="2" charset="-122"/>
            </a:endParaRP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3861FDE1-7B29-4CA4-90DD-E06D26DC49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4618"/>
            <a:ext cx="2659642" cy="13298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71926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173967"/>
            <a:ext cx="10515600" cy="1915684"/>
          </a:xfrm>
        </p:spPr>
        <p:txBody>
          <a:bodyPr/>
          <a:lstStyle>
            <a:lvl1pPr marL="0" indent="0" algn="r">
              <a:buNone/>
              <a:defRPr sz="2800"/>
            </a:lvl1pPr>
            <a:lvl2pPr marL="228600" indent="0">
              <a:buNone/>
              <a:defRPr sz="1000"/>
            </a:lvl2pPr>
            <a:lvl3pPr marL="457200" indent="0">
              <a:buNone/>
              <a:defRPr sz="900"/>
            </a:lvl3pPr>
            <a:lvl4pPr marL="685800" indent="0">
              <a:buNone/>
              <a:defRPr sz="800"/>
            </a:lvl4pPr>
            <a:lvl5pPr marL="914400" indent="0">
              <a:buNone/>
              <a:defRPr sz="800"/>
            </a:lvl5pPr>
            <a:lvl6pPr marL="1143000" indent="0">
              <a:buNone/>
              <a:defRPr sz="800"/>
            </a:lvl6pPr>
            <a:lvl7pPr marL="1371600" indent="0">
              <a:buNone/>
              <a:defRPr sz="800"/>
            </a:lvl7pPr>
            <a:lvl8pPr marL="1600200" indent="0">
              <a:buNone/>
              <a:defRPr sz="800"/>
            </a:lvl8pPr>
            <a:lvl9pPr marL="1828800" indent="0">
              <a:buNone/>
              <a:defRPr sz="8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454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0519" y="607218"/>
            <a:ext cx="7804944" cy="110656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39965" y="1830388"/>
            <a:ext cx="3863975" cy="4420394"/>
          </a:xfrm>
        </p:spPr>
        <p:txBody>
          <a:bodyPr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33306" y="1830388"/>
            <a:ext cx="3864769" cy="4420394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575B06-9A48-44CB-BF22-441D24A07EA7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3DBF766B-A79A-47E3-A8A4-F20D3785D3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580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078301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7" y="1681163"/>
            <a:ext cx="5157788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1577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3"/>
          </a:xfrm>
        </p:spPr>
        <p:txBody>
          <a:bodyPr anchor="b"/>
          <a:lstStyle>
            <a:lvl1pPr marL="0" indent="0">
              <a:buNone/>
              <a:defRPr lang="en-US" altLang="zh-CN" sz="24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 charset="0"/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296D34-F81A-46A2-8AD8-39966004D08F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15D48B74-1623-4CF1-A84F-46B2BC73C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9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78D55F-A373-42D5-A264-B8E1D501BFC5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6AD8A316-5B60-4558-8ABF-CD2AA4BBB5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8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594138-9B44-4804-8A89-1E9C8739BAC6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FB88157-DD58-478C-AE64-6676DEBA1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42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04633"/>
            <a:ext cx="3932238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04833"/>
            <a:ext cx="3932238" cy="3811588"/>
          </a:xfrm>
        </p:spPr>
        <p:txBody>
          <a:bodyPr/>
          <a:lstStyle>
            <a:lvl1pPr marL="0" indent="0">
              <a:buNone/>
              <a:defRPr sz="24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E2E900-EAB6-4B71-8F4C-9F49C009F645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3B617167-14B9-4E1B-8626-65F9446BE7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3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58418"/>
            <a:ext cx="3932238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pPr lvl="0"/>
            <a:endParaRPr lang="zh-CN" altLang="en-US" noProof="0">
              <a:sym typeface="Helvetica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58618"/>
            <a:ext cx="3932238" cy="3811588"/>
          </a:xfrm>
        </p:spPr>
        <p:txBody>
          <a:bodyPr/>
          <a:lstStyle>
            <a:lvl1pPr marL="0" indent="0">
              <a:buNone/>
              <a:defRPr sz="24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7794E7-4E28-4501-8019-5566C2C2BC83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DD88C70D-6027-48FC-86EC-5C3A896408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9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35C023-FE34-4344-A130-C228BB7E7256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4434A424-850E-4718-B7E9-624FA5B96A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60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47038" y="1830388"/>
            <a:ext cx="1951038" cy="4420394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132" y="1830388"/>
            <a:ext cx="5777706" cy="4420394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3F4BDC-C434-4A9D-BBDF-64FA4D5C18DB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DDCCB80E-6BD6-4CD7-A264-A5A956D4DD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6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5FCCA335-7914-4FD9-8F58-7115715F6B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163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2.png"/><Relationship Id="rId1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 bwMode="auto">
          <a:xfrm>
            <a:off x="2193132" y="958906"/>
            <a:ext cx="7804944" cy="1518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71437" tIns="71437" rIns="71437" bIns="7143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Lantinghei SC Heavy" charset="0"/>
              </a:rPr>
              <a:t>Click to edit Master title style</a:t>
            </a:r>
          </a:p>
        </p:txBody>
      </p:sp>
      <p:pic>
        <p:nvPicPr>
          <p:cNvPr id="1027" name="Picture 2" descr="资源 1@4x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370270" flipH="1">
            <a:off x="5971382" y="-2408238"/>
            <a:ext cx="7548563" cy="722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9804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8" name="Picture 3" descr="pasted-image.pdf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0157" y="297656"/>
            <a:ext cx="1800225" cy="356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4"/>
          <p:cNvSpPr>
            <a:spLocks/>
          </p:cNvSpPr>
          <p:nvPr/>
        </p:nvSpPr>
        <p:spPr bwMode="auto">
          <a:xfrm>
            <a:off x="12063413" y="230188"/>
            <a:ext cx="234157" cy="453232"/>
          </a:xfrm>
          <a:prstGeom prst="rect">
            <a:avLst/>
          </a:prstGeom>
          <a:solidFill>
            <a:srgbClr val="081BA5"/>
          </a:solidFill>
          <a:ln>
            <a:noFill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35719" tIns="35719" rIns="35719" bIns="35719" anchor="ctr"/>
          <a:lstStyle>
            <a:lvl1pPr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ctr" eaLnBrk="1"/>
            <a:endParaRPr lang="zh-CN" altLang="zh-CN" sz="1600">
              <a:solidFill>
                <a:srgbClr val="FFFFFF"/>
              </a:solidFill>
              <a:ea typeface="SimSun" panose="02010600030101010101" pitchFamily="2" charset="-122"/>
            </a:endParaRPr>
          </a:p>
        </p:txBody>
      </p:sp>
      <p:sp>
        <p:nvSpPr>
          <p:cNvPr id="1030" name="Rectangle 5"/>
          <p:cNvSpPr>
            <a:spLocks noGrp="1"/>
          </p:cNvSpPr>
          <p:nvPr>
            <p:ph type="body" idx="1"/>
          </p:nvPr>
        </p:nvSpPr>
        <p:spPr bwMode="auto">
          <a:xfrm>
            <a:off x="2193132" y="2594181"/>
            <a:ext cx="7804944" cy="40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71437" tIns="71437" rIns="71437" bIns="7143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dirty="0">
                <a:sym typeface="Helvetica Light" charset="0"/>
              </a:rPr>
              <a:t>Click to edit Master text styles</a:t>
            </a:r>
          </a:p>
          <a:p>
            <a:pPr lvl="1"/>
            <a:r>
              <a:rPr lang="zh-CN" altLang="zh-CN" dirty="0">
                <a:sym typeface="Helvetica Light" charset="0"/>
              </a:rPr>
              <a:t>Second level</a:t>
            </a:r>
          </a:p>
          <a:p>
            <a:pPr lvl="2"/>
            <a:r>
              <a:rPr lang="zh-CN" altLang="zh-CN" dirty="0">
                <a:sym typeface="Helvetica Light" charset="0"/>
              </a:rPr>
              <a:t>Third level</a:t>
            </a:r>
          </a:p>
          <a:p>
            <a:pPr lvl="3"/>
            <a:r>
              <a:rPr lang="zh-CN" altLang="zh-CN" dirty="0">
                <a:sym typeface="Helvetica Light" charset="0"/>
              </a:rPr>
              <a:t>Fourth level</a:t>
            </a:r>
          </a:p>
          <a:p>
            <a:pPr lvl="4"/>
            <a:r>
              <a:rPr lang="zh-CN" altLang="zh-CN" dirty="0">
                <a:sym typeface="Helvetica Light" charset="0"/>
              </a:rPr>
              <a:t>Fifth level</a:t>
            </a:r>
          </a:p>
        </p:txBody>
      </p:sp>
      <p:sp>
        <p:nvSpPr>
          <p:cNvPr id="3" name="Rectangle 6"/>
          <p:cNvSpPr>
            <a:spLocks noGrp="1"/>
          </p:cNvSpPr>
          <p:nvPr>
            <p:ph type="sldNum" sz="quarter" idx="2"/>
          </p:nvPr>
        </p:nvSpPr>
        <p:spPr bwMode="auto">
          <a:xfrm>
            <a:off x="5967413" y="6504782"/>
            <a:ext cx="24765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71437" tIns="71437" rIns="71437" bIns="71437" numCol="1" anchor="t" anchorCtr="0" compatLnSpc="1">
            <a:prstTxWarp prst="textNoShape">
              <a:avLst/>
            </a:prstTxWarp>
          </a:bodyPr>
          <a:lstStyle>
            <a:lvl1pPr algn="ctr" eaLnBrk="1">
              <a:defRPr sz="1200">
                <a:ea typeface="SimSun" panose="02010600030101010101" pitchFamily="2" charset="-122"/>
              </a:defRPr>
            </a:lvl1pPr>
          </a:lstStyle>
          <a:p>
            <a:fld id="{4A3DB189-EA9E-4FF3-A80F-706F2B8DAECD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6419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410369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000000"/>
          </a:solidFill>
          <a:latin typeface="+mj-lt"/>
          <a:ea typeface="+mj-ea"/>
          <a:cs typeface="+mj-cs"/>
          <a:sym typeface="Lantinghei SC Heavy" charset="0"/>
        </a:defRPr>
      </a:lvl1pPr>
      <a:lvl2pPr algn="ctr" defTabSz="410369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2pPr>
      <a:lvl3pPr algn="ctr" defTabSz="410369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3pPr>
      <a:lvl4pPr algn="ctr" defTabSz="410369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4pPr>
      <a:lvl5pPr algn="ctr" defTabSz="410369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5pPr>
      <a:lvl6pPr marL="228600" algn="ctr" defTabSz="410369" rtl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6pPr>
      <a:lvl7pPr marL="457200" algn="ctr" defTabSz="410369" rtl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7pPr>
      <a:lvl8pPr marL="685800" algn="ctr" defTabSz="410369" rtl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8pPr>
      <a:lvl9pPr marL="914400" algn="ctr" defTabSz="410369" rtl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9pPr>
    </p:titleStyle>
    <p:bodyStyle>
      <a:lvl1pPr marL="30797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1pPr>
      <a:lvl2pPr marL="53022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2pPr>
      <a:lvl3pPr marL="75247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3pPr>
      <a:lvl4pPr marL="97472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4pPr>
      <a:lvl5pPr marL="119697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5645-F46D-434E-88E5-7A7AE6CC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367" y="-424069"/>
            <a:ext cx="7832138" cy="1662341"/>
          </a:xfrm>
        </p:spPr>
        <p:txBody>
          <a:bodyPr/>
          <a:lstStyle/>
          <a:p>
            <a:r>
              <a:rPr lang="zh-CN" altLang="en-US" dirty="0"/>
              <a:t>数据库关系图</a:t>
            </a:r>
            <a:endParaRPr lang="en-I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B8E620-D671-BE0B-96C1-D2E5ED6F0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791" y="1290198"/>
            <a:ext cx="6493565" cy="479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92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CC8F-7A71-4A26-9E98-A1350BB1F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993" y="-339807"/>
            <a:ext cx="7804944" cy="1518444"/>
          </a:xfrm>
        </p:spPr>
        <p:txBody>
          <a:bodyPr/>
          <a:lstStyle/>
          <a:p>
            <a:r>
              <a:rPr lang="zh-CN" altLang="en-US" dirty="0"/>
              <a:t>功能展示截图</a:t>
            </a:r>
            <a:endParaRPr lang="en-I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84A5AE-2B24-99DC-D662-0809D1DD3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8383"/>
            <a:ext cx="5562180" cy="24682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489B0B7-9F7D-DF74-75FA-6E1D59027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80" y="692094"/>
            <a:ext cx="6252133" cy="35684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9F3BAEE-547C-E0DE-F20F-B8590A37A4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6600"/>
            <a:ext cx="5135217" cy="346952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B8FC94A-5399-738E-F207-7D0F093842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957" y="4359454"/>
            <a:ext cx="6533322" cy="236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082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43DA5E0-FFF5-CAE9-4EFD-29D771C39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450307"/>
            <a:ext cx="6200995" cy="5038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3217184-F3B1-55F6-00B0-2D414C2C5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050" y="1294568"/>
            <a:ext cx="5721195" cy="514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40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17C1B0B-C422-B89E-742E-791871DA5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8" y="1278834"/>
            <a:ext cx="5571838" cy="49629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8CC730-21AB-7317-4599-47A90E7C7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000" y="1213778"/>
            <a:ext cx="5438079" cy="502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6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C5711-1092-4842-BDC1-524640DD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CE4FF6C-4ACF-2819-A56E-B1986B3EF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6" y="1424609"/>
            <a:ext cx="6213231" cy="42141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3A490C8-47BE-5C94-9011-C6AA3541B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459" y="1477617"/>
            <a:ext cx="6789541" cy="400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0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F2441-0AB2-13C7-326D-93809D3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5AF10C-1799-A65C-5AE0-B1FBFC762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3877"/>
            <a:ext cx="6263254" cy="47026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90024C8-45A7-A79E-AE32-C5C832AD7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623" y="1313877"/>
            <a:ext cx="6558377" cy="484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72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56DB"/>
                </a:solidFill>
              </a:rPr>
              <a:t>Kafka Producer — 数据生产端实现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86694"/>
                </a:solidFill>
              </a:rPr>
              <a:t>从 MySQL 读取房屋数据 → 过滤 → 发送到 Kafka → 断点续跑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73152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8A6FF"/>
                </a:solidFill>
              </a:rPr>
              <a:t>▎架构概述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📍 数据源：MySQL cjz_spark.house_info_clean_checkid 表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📤 目标：Kafka Topic "kafka"（3节点集群）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E6EDF3"/>
                </a:solidFill>
              </a:rPr>
              <a:t>核心流程：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① 读取上次处理进度 (kafka_producer_progress 表)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② 按 checkid 自增轮询，每次查询该批次数据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③ 过滤条件：district="海淀" AND area∈[90,144) ㎡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④ 逐条构造 JSON 消息 → KafkaProducer.send()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⑤ 发送批次结束标记 __END_OF_BATCH__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⑥ 持久化进度 (kafka_producer_progress)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⑦ checkid++，间隔 1 秒继续轮询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188720"/>
            <a:ext cx="73152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188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8A6FF"/>
                </a:solidFill>
              </a:rPr>
              <a:t>▎关键配置与特性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Kafka 配置：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bootstrap.servers：hadoop101:9092,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  niit-slaves1:9092, niit-slaves2:9092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acks=all（最高可靠性）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retries=3（失败重试）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序列化：StringSerializer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4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消息格式（JSON）：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{"community":"世茂城",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 "price_per_sqm":378810}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4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批次结束标记：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{"__END_OF_BATCH__":true,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 "checkid":123}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4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断点续跑：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进度表 kafka_producer_progress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重启后自动从上次 checkid+1 开始</a:t>
            </a:r>
          </a:p>
        </p:txBody>
      </p:sp>
    </p:spTree>
    <p:extLst>
      <p:ext uri="{BB962C8B-B14F-4D97-AF65-F5344CB8AC3E}">
        <p14:creationId xmlns:p14="http://schemas.microsoft.com/office/powerpoint/2010/main" val="2596181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A273E-502F-FCCD-8C34-75AC81F1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56DB"/>
                </a:solidFill>
              </a:rPr>
              <a:t>Kafka Consumer — 数据消费端实现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86694"/>
                </a:solidFill>
              </a:rPr>
              <a:t>消费 Kafka 消息 → 内存聚合（ConcurrentHashMap）→ 批量写入 MySQL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73152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8A6FF"/>
                </a:solidFill>
              </a:rPr>
              <a:t>▎架构概述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📥 数据源：Kafka Topic "kafka"（earliest 策略）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💾 目标：MySQL cjz_spark.certain_analysis 表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E6EDF3"/>
                </a:solidFill>
              </a:rPr>
              <a:t>消费流程：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① 订阅 Topic，poll(Duration.ofMillis(100)) 拉取消息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② 判断消息类型：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   • 普通消息 → 解析 community + price_per_sqm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   • __END_OF_BATCH__ → 触发 MySQL 批量写入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③ 内存聚合：ConcurrentHashMap&lt;String, long[]&gt;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   Key = 小区名，Value = [房屋数量, 单价总和]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④ 收到结束标记后，批量写入 MySQL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</a:rPr>
              <a:t>  ⑤ 清空内存容器，准备下一批次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188720"/>
            <a:ext cx="73152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188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8A6FF"/>
                </a:solidFill>
              </a:rPr>
              <a:t>▎关键实现细节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Kafka 配置：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GROUP_ID_CONFIG = "kafka"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AUTO_OFFSET_RESET = "earliest"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反序列化：StringDeserializer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4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内存聚合（ConcurrentHashMap）：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线程安全的 compute() 方法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原子性累加：count + 1, sum + price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最终 avgPrice = sum / count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4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MySQL 写入（幂等）：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INSERT ... ON DUPLICATE KEY UPDATE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number = number + VALUES(number),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averageprice = 加权平均公式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重复执行不脏数据 ✅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4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简单 JSON 解析：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不依赖第三方 JSON 库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E6EDF3"/>
                </a:solidFill>
              </a:rPr>
              <a:t>  • extractJsonValue() 手写解析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120640"/>
            <a:ext cx="73152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8A6FF"/>
                </a:solidFill>
              </a:rPr>
              <a:t>▎数据链路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32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</a:rPr>
              <a:t>MySQL (house_info_clean_checkid)  →  Producer  →  Kafka  →  Consumer  →  MySQL (certain_analysis)  →  前端 Dashboard（3秒刷新）</a:t>
            </a:r>
          </a:p>
        </p:txBody>
      </p:sp>
    </p:spTree>
    <p:extLst>
      <p:ext uri="{BB962C8B-B14F-4D97-AF65-F5344CB8AC3E}">
        <p14:creationId xmlns:p14="http://schemas.microsoft.com/office/powerpoint/2010/main" val="1019283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0D2F6-2A77-2B6C-664C-6FB4804DB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56DB"/>
                </a:solidFill>
              </a:rPr>
              <a:t>Web 可视化 — 房屋价格分析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86694"/>
                </a:solidFill>
              </a:rPr>
              <a:t>index.jsp + ECharts + AJAX 轮询 → 深色主题实时数据大屏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73152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8A6FF"/>
                </a:solidFill>
              </a:rPr>
              <a:t>▎5 个图表面板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① 面积区间房价分析（左上）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 分组柱状图：area_range × price_level，4×4 维度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 数据源：/data?table=area（Spark 离线分析）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3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② 市区房价对比（右上）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 柱状图+折线图：房价与房屋数量双轴展示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 数据源：/data?table=district（Spark 离线分析）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3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③ 年份区间户型分布（中左）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 堆叠柱状图：小/中/大户型占比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 数据源：/data?table=year（Spark 离线分析）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3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④ 小区房价 Top20（中右）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 横向柱状图：均价最高小区排行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 数据源：/data?table=community（Spark 离线分析）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3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⑤ 实时小区分析（底部全宽）🔴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 横向柱状图：海淀区 90-144㎡ 小区实时均价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 数据源：/data?table=certain（Kafka 实时流）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 每 3 秒 AJAX 轮询刷新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73152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8A6FF"/>
                </a:solidFill>
              </a:rPr>
              <a:t>▎技术栈与关键特性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前端技术栈：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ECharts 5.4.3（CDN 引入）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原生 JavaScript（无框架依赖）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CSS Grid 深色主题布局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JSP 动态路径：&lt;%= request.getContextPath() %&gt;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4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数据加载：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fetchData(table) → /data?table=xxx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离线数据：页面加载时一次性获取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实时数据：setInterval(pollRealtime, 3000)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4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深色主题设计：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背景色：#0d1117（GitHub 风格暗色）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darkThemeOptions() 统一配置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渐变色柱状图 + 圆角 + 标签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400" b="0">
                <a:solidFill>
                  <a:srgbClr val="E6EDF3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EDF3"/>
                </a:solidFill>
              </a:rPr>
              <a:t>响应式设计：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window.resize → 所有图表自适应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实时时钟更新（每秒刷新）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</a:rPr>
              <a:t>  • LIVE 动画指示器（实时面板）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03520"/>
            <a:ext cx="73152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8A6FF"/>
                </a:solidFill>
              </a:rPr>
              <a:t>▎完整数据流链路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E6EDF3"/>
                </a:solidFill>
              </a:rPr>
              <a:t>MySQL 源数据  →  Kafka Producer  →  Kafka 集群  →  Kafka Consumer  →  MySQL 结果表  →  /data 接口  →  AJAX 轮询  →  ECharts 实时渲染</a:t>
            </a:r>
          </a:p>
        </p:txBody>
      </p:sp>
    </p:spTree>
    <p:extLst>
      <p:ext uri="{BB962C8B-B14F-4D97-AF65-F5344CB8AC3E}">
        <p14:creationId xmlns:p14="http://schemas.microsoft.com/office/powerpoint/2010/main" val="3237170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lock&#10;&#10;Description automatically generated">
            <a:extLst>
              <a:ext uri="{FF2B5EF4-FFF2-40B4-BE49-F238E27FC236}">
                <a16:creationId xmlns:a16="http://schemas.microsoft.com/office/drawing/2014/main" id="{304E6E89-EA94-461E-9E91-9E396359F0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074" y="1177261"/>
            <a:ext cx="5818632" cy="413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84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1A092B-428A-463A-9C1E-2B4C632FAEFF}"/>
              </a:ext>
            </a:extLst>
          </p:cNvPr>
          <p:cNvSpPr/>
          <p:nvPr/>
        </p:nvSpPr>
        <p:spPr>
          <a:xfrm>
            <a:off x="3162227" y="2718977"/>
            <a:ext cx="5363969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  <a:endParaRPr lang="en-US" sz="8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9611090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FFFFF"/>
      </a:accent3>
      <a:accent4>
        <a:srgbClr val="000000"/>
      </a:accent4>
      <a:accent5>
        <a:srgbClr val="AAB8DC"/>
      </a:accent5>
      <a:accent6>
        <a:srgbClr val="007B26"/>
      </a:accent6>
      <a:hlink>
        <a:srgbClr val="0000FF"/>
      </a:hlink>
      <a:folHlink>
        <a:srgbClr val="FF00FF"/>
      </a:folHlink>
    </a:clrScheme>
    <a:fontScheme name="White">
      <a:majorFont>
        <a:latin typeface="Lantinghei SC Heavy"/>
        <a:ea typeface="Lantinghei SC Heavy"/>
        <a:cs typeface="Lantinghei SC Heavy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>
          <a:outerShdw blurRad="50800" dist="25400" dir="5400000" algn="ctr" rotWithShape="0">
            <a:srgbClr val="000000">
              <a:alpha val="50000"/>
            </a:srgbClr>
          </a:outerShdw>
        </a:effectLst>
      </a:spPr>
      <a:bodyPr vert="horz" wrap="square" lIns="71437" tIns="71437" rIns="71437" bIns="71437" numCol="1" anchor="ctr" anchorCtr="0" compatLnSpc="1">
        <a:prstTxWarp prst="textNoShape">
          <a:avLst/>
        </a:prstTxWarp>
        <a:spAutoFit/>
      </a:bodyPr>
      <a:lstStyle>
        <a:defPPr marL="0" marR="0" indent="0" algn="ctr" defTabSz="820738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5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Light" charset="0"/>
            <a:ea typeface="Helvetica Light" charset="0"/>
            <a:cs typeface="Helvetica Light" charset="0"/>
            <a:sym typeface="Helvetica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>
          <a:outerShdw blurRad="50800" dist="25400" dir="5400000" algn="ctr" rotWithShape="0">
            <a:srgbClr val="000000">
              <a:alpha val="50000"/>
            </a:srgbClr>
          </a:outerShdw>
        </a:effectLst>
      </a:spPr>
      <a:bodyPr vert="horz" wrap="square" lIns="71437" tIns="71437" rIns="71437" bIns="71437" numCol="1" anchor="ctr" anchorCtr="0" compatLnSpc="1">
        <a:prstTxWarp prst="textNoShape">
          <a:avLst/>
        </a:prstTxWarp>
        <a:spAutoFit/>
      </a:bodyPr>
      <a:lstStyle>
        <a:defPPr marL="0" marR="0" indent="0" algn="ctr" defTabSz="820738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5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Light" charset="0"/>
            <a:ea typeface="Helvetica Light" charset="0"/>
            <a:cs typeface="Helvetica Light" charset="0"/>
            <a:sym typeface="Helvetica Light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ig Data v2.potx" id="{9C375FE3-222F-4AF7-B617-B54A143379D0}" vid="{D6C00BBA-7528-4C11-9820-E5A600D7323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9</Words>
  <Application>Microsoft Office PowerPoint</Application>
  <PresentationFormat>宽屏</PresentationFormat>
  <Paragraphs>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Helvetica Light</vt:lpstr>
      <vt:lpstr>Lantinghei SC Heavy</vt:lpstr>
      <vt:lpstr>SimSun</vt:lpstr>
      <vt:lpstr>Arial</vt:lpstr>
      <vt:lpstr>White</vt:lpstr>
      <vt:lpstr>数据库关系图</vt:lpstr>
      <vt:lpstr>功能展示截图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 Gaurav Pandey</dc:creator>
  <cp:lastModifiedBy>家政 陈</cp:lastModifiedBy>
  <cp:revision>102</cp:revision>
  <dcterms:created xsi:type="dcterms:W3CDTF">2018-12-12T03:00:50Z</dcterms:created>
  <dcterms:modified xsi:type="dcterms:W3CDTF">2026-06-30T15:58:23Z</dcterms:modified>
</cp:coreProperties>
</file>