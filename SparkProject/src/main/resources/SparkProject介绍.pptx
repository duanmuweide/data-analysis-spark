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54864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基于Spark的房源大数据分析平台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Microsoft YaHei"/>
              </a:defRPr>
            </a:pPr>
            <a:r>
              <a:rPr dirty="0" err="1"/>
              <a:t>SparkSQL</a:t>
            </a:r>
            <a:r>
              <a:rPr dirty="0"/>
              <a:t> House Price Big Data Analysis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Microsoft YaHei"/>
              </a:defRPr>
            </a:pPr>
            <a:r>
              <a:rPr dirty="0"/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754880"/>
            <a:ext cx="1280160" cy="502920"/>
          </a:xfrm>
          <a:prstGeom prst="round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Spark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754880"/>
            <a:ext cx="1280160" cy="502920"/>
          </a:xfrm>
          <a:prstGeom prst="roundRect">
            <a:avLst/>
          </a:prstGeom>
          <a:solidFill>
            <a:srgbClr val="DC3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Scala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754880"/>
            <a:ext cx="1280160" cy="502920"/>
          </a:xfrm>
          <a:prstGeom prst="round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Kafka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54880"/>
            <a:ext cx="1280160" cy="502920"/>
          </a:xfrm>
          <a:prstGeom prst="roundRect">
            <a:avLst/>
          </a:prstGeom>
          <a:solidFill>
            <a:srgbClr val="447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MySQL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754880"/>
            <a:ext cx="1280160" cy="502920"/>
          </a:xfrm>
          <a:prstGeom prst="roundRect">
            <a:avLst/>
          </a:prstGeom>
          <a:solidFill>
            <a:srgbClr val="A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ECharts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4754880"/>
            <a:ext cx="1280160" cy="502920"/>
          </a:xfrm>
          <a:prstGeom prst="roundRect">
            <a:avLst/>
          </a:prstGeom>
          <a:solidFill>
            <a:srgbClr val="F0D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Tomcat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852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项目演示  |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  录 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1691639"/>
            <a:ext cx="2743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Project Overview — 背景、目标、数据规模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691639"/>
            <a:ext cx="2743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804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Technology Architecture — Lambda批流一体架构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2926079"/>
            <a:ext cx="2743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2788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Microsoft YaHei"/>
              </a:defRPr>
            </a:pPr>
            <a:r>
              <a:t>数据流程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Data Pipeline — ODS → DWD → ADS 数据流转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2926079"/>
            <a:ext cx="2743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78040" y="2788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Microsoft YaHei"/>
              </a:defRPr>
            </a:pPr>
            <a:r>
              <a:t>批处理模块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Batch Processing — Spark SQL 五大分析模块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4160520"/>
            <a:ext cx="2743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08760" y="4023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Microsoft YaHei"/>
              </a:defRPr>
            </a:pPr>
            <a:r>
              <a:t>流处理模块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Stream Processing — Kafka实时流处理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60" y="4160520"/>
            <a:ext cx="2743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78040" y="4023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Database Schema — 8张MySQL表设计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57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5394960"/>
            <a:ext cx="2743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5257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Microsoft YaHei"/>
              </a:defRPr>
            </a:pPr>
            <a:r>
              <a:t>Web可视化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Web Dashboard — ECharts大屏数据可视化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257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5160" y="5394960"/>
            <a:ext cx="2743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78040" y="5257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Microsoft YaHei"/>
              </a:defRPr>
            </a:pPr>
            <a:r>
              <a:t>部署与总结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Deployment &amp; Summary — 集群部署与项目展望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SparkSQL 房源信息分析系统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2026/06 | Spark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6D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011680" cy="1828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Microsoft YaHei"/>
              </a:defRPr>
            </a:pPr>
            <a:r>
              <a:rPr dirty="0"/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  <a:latin typeface="Microsoft YaHei"/>
              </a:defRPr>
            </a:pPr>
            <a:r>
              <a:t>100万+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房源数据记录</a:t>
            </a:r>
            <a:br/>
            <a:r>
              <a:t>wholedata.csv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463040"/>
            <a:ext cx="2011680" cy="1828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Microsoft YaHei"/>
              </a:defRPr>
            </a:pPr>
            <a:r>
              <a:rPr dirty="0"/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011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  <a:latin typeface="Microsoft YaHei"/>
              </a:defRPr>
            </a:pPr>
            <a:r>
              <a:rPr dirty="0"/>
              <a:t>8张表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MySQL数据表</a:t>
            </a:r>
            <a:br/>
            <a:r>
              <a:t>3层数据仓库分层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463040"/>
            <a:ext cx="2011680" cy="1828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Microsoft YaHei"/>
              </a:defRPr>
            </a:pPr>
            <a:r>
              <a:rPr dirty="0"/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011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  <a:latin typeface="Microsoft YaHei"/>
              </a:defRPr>
            </a:pPr>
            <a:r>
              <a:t>5个分析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Spark SQL批处理</a:t>
            </a:r>
            <a:br/>
            <a:r>
              <a:t>多维度分析模块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199" y="1463040"/>
            <a:ext cx="2011680" cy="1828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011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  <a:latin typeface="Microsoft YaHei"/>
              </a:defRPr>
            </a:pPr>
            <a:r>
              <a:t>1秒轮询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Kafka实时流</a:t>
            </a:r>
            <a:br/>
            <a:r>
              <a:t>Producer-Consumer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1463040"/>
            <a:ext cx="2011680" cy="1828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011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6DB"/>
                </a:solidFill>
                <a:latin typeface="Microsoft YaHei"/>
              </a:defRPr>
            </a:pPr>
            <a:r>
              <a:t>5张图表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ECharts可视化</a:t>
            </a:r>
            <a:br/>
            <a:r>
              <a:t>3秒自动刷新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● 项目定位：基于Spark SQL的千万级房源大数据分析平台，支持批处理与流处理双模式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● 数据来源：wholedata.csv — 包含房屋面积、价格、户型、装修等10个字段的百万级数据集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● 数据处理：采用Lambda架构，批处理路径使用Spark SQL进行离线多维分析，流处理路径使用Kafka实现实时更新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● 分析维度：面积区间、行政区划、建筑年代、社区级别 — 覆盖房价分析的4大核心维度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● 数据存储：MySQL数据库，按照数据仓库分层模型（ODS → DWD → ADS）组织8张数据表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● 可视化：Java Servlet + JSP + ECharts构建Web大屏，支持实时轮询刷新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SparkSQL 房源信息分析系统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2026/06 | Spark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6D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Lambda Architecture — 批流一体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10332720" cy="7315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73152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展示层  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91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JSP + ECharts 5.4.3 大屏看板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691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5张交互式图表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691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3秒 AJAX 自动轮询刷新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176272"/>
            <a:ext cx="1033272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2176272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267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API 层  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49631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Java Servlet 3.1 (DataServlet)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9631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JSON 格式数据接口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249631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统一 /data?table=xxx 端点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83864"/>
            <a:ext cx="1033272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3483864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35753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流处理  Stream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80390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Kafka 2.2 + Java Consumer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80390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1秒轮询 Producer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80390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实时更新 certain_analysis 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654296"/>
            <a:ext cx="1033272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4654296"/>
            <a:ext cx="73152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7457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批处理  Batch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97433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Spark SQL 2.4.6 (Scala 2.11)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97433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5大分析模块: 面积/行政区/年代/社区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97433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JDBC直连MySQL读写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824728"/>
            <a:ext cx="1033272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" y="5824728"/>
            <a:ext cx="73152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88720" y="5916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数据仓库  Data Warehouse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1447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MySQL 8张表 (ODS+DWD+ADS)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61447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数据清洗: 去空值、规范化、计算衍生字段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1447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• checkid 批处理版本控制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SparkSQL 房源信息分析系统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2026/06 | Spark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6D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Microsoft YaHei"/>
              </a:defRPr>
            </a:pPr>
            <a:r>
              <a:t>数据流程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Data Pipeline — ODS → DWD → 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286000" cy="10972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ODS 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house_info_checkid</a:t>
            </a:r>
            <a:br/>
            <a:r>
              <a:t>原始CSV数据入库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463040"/>
            <a:ext cx="2286000" cy="10972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DWD 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8745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house_info_clean_checkid</a:t>
            </a:r>
            <a:br/>
            <a:r>
              <a:t>清洗+衍生字段计算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26080"/>
            <a:ext cx="201168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292608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Microsoft YaHei"/>
              </a:defRPr>
            </a:pPr>
            <a:r>
              <a:t>面积分析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area_price_analysis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2926080"/>
            <a:ext cx="201168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08960" y="292608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行政区分析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district_house_price_analysis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2926080"/>
            <a:ext cx="201168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03520" y="292608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94959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年代分析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59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house_year_analysis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2926080"/>
            <a:ext cx="201168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79" y="292608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19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Microsoft YaHei"/>
              </a:defRPr>
            </a:pPr>
            <a:r>
              <a:t>社区分析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community_price_analysis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926080"/>
            <a:ext cx="201168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92640" y="2926080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实时分析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certain_analysis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788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ADS 层 (Application Data Service)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0" y="4663440"/>
            <a:ext cx="4572000" cy="91440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80" y="4800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Web 可视化大屏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120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DataServlet API → ECharts 5.4.3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1463040"/>
            <a:ext cx="1828800" cy="10972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49840" y="1554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Kafka 流处理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1828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Producer →</a:t>
            </a:r>
            <a:br/>
            <a:r>
              <a:t>Consumer →</a:t>
            </a:r>
            <a:br/>
            <a:r>
              <a:t>certain_analysis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Microsoft YaHei"/>
              </a:defRPr>
            </a:pPr>
            <a:r>
              <a:t>━━ ━&gt;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715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① CSV读取 → inferSchema → 中文列重命名 → house_info_checkid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② 数据清洗: rowkey生成、电梯文字数字化、单价计算、房龄计算、空值过滤 → house_info_clean_checkid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③ Spark SQL多维分析: 面积/行政区/年代/社区 → 4张ADS表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④ Kafka实时流: MySQL轮询 → Kafka Topic → Consumer聚合 → certain_analysis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629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⑤ DataServlet统一API → ECharts大屏展示 → 3秒自动刷新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SparkSQL 房源信息分析系统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2026/06 | Spark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6D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Microsoft YaHei"/>
              </a:defRPr>
            </a:pPr>
            <a:r>
              <a:t>批处理模块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Batch Processing — Spark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2560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📥  Write2Db — 数据入库与清洗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74320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读取 wholedata.csv (100万+行)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中文列名 → 英文列名重命名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生成 rowkey (区+社区+序号)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电梯文本 → elevator_int (0/1)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计算 price_per_sqm (万元/㎡)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计算 house_age (2025-建筑年份)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过滤空值与异常数据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写入 ODS + DWD 两张表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⚙  面积区间分析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面积分档: 50-90/90-144/144-236/236+ ㎡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价格等级: 低/中/中高/高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统计: 均价/最值/方差/中位数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输出: area_price_analysis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6576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⚙  行政区分析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96596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按行政区聚合分析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各区均价与极值对比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房龄与面积均值统计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输出: district_house_price_analysis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94760"/>
            <a:ext cx="36576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⚙  建筑年代分析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年代分档: 1950→2020 五档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户型分布: 小/中/大 三档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电梯/装修类型统计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输出: house_year_analysis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794760"/>
            <a:ext cx="36576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⚙  社区级别分析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38912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按区+社区聚合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社区均价排行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建筑年代区间统计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输出: community_price_analysis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💡 技术细节: Spark 2.4.6 on Scala 2.11.12  |  JDBC直连MySQL (mysql-connector-java 5.1.47)  |  Hive Metastore (thrift://niit-master:9083)  |  spark-submit --master spark://master-pc:7077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SparkSQL 房源信息分析系统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2026/06 | Spark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6D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Microsoft YaHei"/>
              </a:defRPr>
            </a:pPr>
            <a:r>
              <a:t>流处理模块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Stream Processing — Kafka + 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645920" y="1554480"/>
            <a:ext cx="2103120" cy="16459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0" y="155448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8308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Producer.java</a:t>
            </a:r>
            <a:br/>
            <a:r>
              <a:t>(Java)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1秒轮询</a:t>
            </a:r>
            <a:br/>
            <a:r>
              <a:t>MySQL DWD表</a:t>
            </a:r>
            <a:br/>
            <a:r>
              <a:t>检测新checkid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554480"/>
            <a:ext cx="2103120" cy="16459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0" y="1554480"/>
            <a:ext cx="2103120" cy="54864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1F20"/>
                </a:solidFill>
                <a:latin typeface="Microsoft YaHei"/>
              </a:defRPr>
            </a:pPr>
            <a:r>
              <a:t>Kafka Topic</a:t>
            </a:r>
            <a:br/>
            <a:r>
              <a:t>"kafka"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消息队列</a:t>
            </a:r>
            <a:br/>
            <a:r>
              <a:t>JSON格式</a:t>
            </a:r>
            <a:br/>
            <a:r>
              <a:t>acks=all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59" y="1554480"/>
            <a:ext cx="2103120" cy="16459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66559" y="155448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Consumer.java</a:t>
            </a:r>
            <a:br/>
            <a:r>
              <a:t>(Java)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接收消息</a:t>
            </a:r>
            <a:br/>
            <a:r>
              <a:t>内存聚合</a:t>
            </a:r>
            <a:br/>
            <a:r>
              <a:t>按社区汇总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554480"/>
            <a:ext cx="2103120" cy="16459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155448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Microsoft YaHei"/>
              </a:defRPr>
            </a:pPr>
            <a:r>
              <a:t>MySQL</a:t>
            </a:r>
            <a:br/>
            <a:r>
              <a:t>certain_analysis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批量写入</a:t>
            </a:r>
            <a:br/>
            <a:r>
              <a:t>UPSERT</a:t>
            </a:r>
            <a:br/>
            <a:r>
              <a:t>加权平均合并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566160"/>
            <a:ext cx="50292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3703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🔀  Producer 特性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160520"/>
            <a:ext cx="4480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每秒轮询MySQL，检测新的checkid批次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从kafka_producer_progress表恢复进度(断点续传)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筛选条件: district='海淀' AND area 90-144㎡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发送JSON消息 + __END_OF_BATCH__ 结束标记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集群: hadoop101:9092, niit-slaves1:9092, niit-slaves2:9092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66160"/>
            <a:ext cx="50292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703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🔀  Consumer 特性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160520"/>
            <a:ext cx="4480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订阅Kafka Topic，offset从earliest开始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ConcurrentHashMap 内存聚合: 社区→[计数, 总价]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收到 __END_OF_BATCH__ 标记后批量写入MySQL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加权平均合并: new_avg = (old*cnt + new*cnt)/(old+new)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INSERT ... ON DUPLICATE KEY UPDATE 幂等写入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SparkSQL 房源信息分析系统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2026/06 | Spark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6DB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Database Schema — MySQL cjz_spark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ODS 操作数据层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00400" cy="10972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Microsoft YaHei"/>
              </a:defRPr>
            </a:pPr>
            <a:r>
              <a:t>house_info_checkid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原始CSV导入  |  中文列名</a:t>
            </a:r>
            <a:br/>
            <a:r>
              <a:t>area, price, district, community</a:t>
            </a:r>
            <a:br/>
            <a:r>
              <a:t>layout, elevator, decoration, build_year...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DWD 明细数据层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00400" cy="10972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house_info_clean_checkid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清洗后数据  |  checkid=1</a:t>
            </a:r>
            <a:br/>
            <a:r>
              <a:t>rowkey, elevator_int</a:t>
            </a:r>
            <a:br/>
            <a:r>
              <a:t>price_per_sqm, house_age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280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ADS 应用数据服务层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840480" cy="411480"/>
          </a:xfrm>
          <a:prstGeom prst="roundRect">
            <a:avLst/>
          </a:prstGeom>
          <a:solidFill>
            <a:srgbClr val="DCF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area_price_analysis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691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面积区间统计 (4x4 矩阵)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03120"/>
            <a:ext cx="3840480" cy="411480"/>
          </a:xfrm>
          <a:prstGeom prst="roundRect">
            <a:avLst/>
          </a:prstGeom>
          <a:solidFill>
            <a:srgbClr val="DCF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21488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district_house_price_analysis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1488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行政区房价统计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560320"/>
            <a:ext cx="3840480" cy="411480"/>
          </a:xfrm>
          <a:prstGeom prst="roundRect">
            <a:avLst/>
          </a:prstGeom>
          <a:solidFill>
            <a:srgbClr val="DCF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606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house_year_analysis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6060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年代房屋特征统计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017520"/>
            <a:ext cx="3840480" cy="411480"/>
          </a:xfrm>
          <a:prstGeom prst="roundRect">
            <a:avLst/>
          </a:prstGeom>
          <a:solidFill>
            <a:srgbClr val="DCF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30632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community_price_analysis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0632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社区均价排行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474720"/>
            <a:ext cx="3840480" cy="411480"/>
          </a:xfrm>
          <a:prstGeom prst="roundRect">
            <a:avLst/>
          </a:prstGeom>
          <a:solidFill>
            <a:srgbClr val="DCF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35204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certain_analysis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5204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实时流处理结果 (海淀90-144)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931920"/>
            <a:ext cx="3840480" cy="411480"/>
          </a:xfrm>
          <a:prstGeom prst="roundRect">
            <a:avLst/>
          </a:prstGeom>
          <a:solidFill>
            <a:srgbClr val="DCF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kafka_producer_progress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9776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Kafka进度断点表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完整数据字典见: src/main/resources/data_dictionary.md (544行)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120640"/>
            <a:ext cx="10515600" cy="1188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52578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📋  DDL 建表脚本 — house_info.sql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7150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8张表的完整DDL定义，包含字段类型、主键、唯一约束、索引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示例: CREATE TABLE area_price_analysis ( id INT AUTO_INCREMENT PRIMARY KEY, area_range VARCHAR(20), price_level VARCHAR(20), ... 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数据库: cjz_spark  |  字符集: utf8  |  MySQL 5.x / 8.x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SparkSQL 房源信息分析系统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2026/06 | Spark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6DB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Microsoft YaHei"/>
              </a:defRPr>
            </a:pPr>
            <a:r>
              <a:t>Web可视化大屏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Web Dashboard — ECharts + Java Servlet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02920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1731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🎨  前端技术栈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4805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ECharts 5.4.3 — 百度开源数据可视化库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JSP (Java Server Pages) — 动态页面渲染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CSS 暗色主题 — GitHub风格配色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AJAX (Fetch API) — 异步数据请求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3秒定时轮询 — 实时数据刷新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响应式布局 — 适配不同屏幕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02920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41731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⚡  后端技术栈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19"/>
            <a:ext cx="44805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Java Servlet 3.1 (DataServlet.java)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Tomcat 7 (嵌入式, Maven插件)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Gson 2.8.6 — JSON序列化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JDBC直连MySQL查询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统一API端点: /data?table=xxx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Cache-Control: no-cache 实时数据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3474720" cy="1234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54864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Microsoft YaHei"/>
              </a:defRPr>
            </a:pPr>
            <a:r>
              <a:t>图表1: 面积区间分析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分组柱状图</a:t>
            </a:r>
            <a:br/>
            <a:r>
              <a:t>4面积范围 × 4价格等级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749039"/>
            <a:ext cx="3474720" cy="1234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59" y="3749039"/>
            <a:ext cx="54864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图表2: 行政区对比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06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双轴图</a:t>
            </a:r>
            <a:br/>
            <a:r>
              <a:t>柱状(均价) + 折线(数量)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749039"/>
            <a:ext cx="3474720" cy="1234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3749039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图表3: 年代户型分布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06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堆叠柱状图</a:t>
            </a:r>
            <a:br/>
            <a:r>
              <a:t>小/中/大户型×年代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3474720" cy="1234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5120640"/>
            <a:ext cx="54864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2120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Microsoft YaHei"/>
              </a:defRPr>
            </a:pPr>
            <a:r>
              <a:t>图表4: 社区Top20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横向柱状图</a:t>
            </a:r>
            <a:br/>
            <a:r>
              <a:t>均价最高前20社区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5120640"/>
            <a:ext cx="3474720" cy="1234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59" y="5120640"/>
            <a:ext cx="54864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52120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图表5: 实时海淀分析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577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横向柱状图</a:t>
            </a:r>
            <a:br/>
            <a:r>
              <a:t>3秒刷新 流处理结果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index.jsp → Fetch /data?table=area → DataServlet.doGet() → JDBC Query → JSON Response → ECharts.setOption()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SparkSQL 房源信息分析系统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2026/06 | Spark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6DB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Microsoft YaHei"/>
              </a:defRPr>
            </a:pPr>
            <a:r>
              <a:t>部署架构与基础设施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Deployment &amp;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60604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6060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56DB"/>
                </a:solidFill>
                <a:latin typeface="Microsoft YaHei"/>
              </a:defRPr>
            </a:pPr>
            <a:r>
              <a:t>Spark 集群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3节点集群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Master: spark://master-pc:7077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Worker1: 192.168.211.127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Worker2: 192.168.211.126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Spark 2.4.6 on Scala 2.11.12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371600"/>
            <a:ext cx="260604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66160" y="1371600"/>
            <a:ext cx="2606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1508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Kafka 集群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828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3节点集群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hadoop101:9092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niit-slaves1:9092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niit-slaves2:9092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Topic: "kafka" | 3 replicas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371600"/>
            <a:ext cx="260604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1371600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1508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MySQL 数据库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828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单实例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Host: 192.168.211.1:3306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Database: cjz_spark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MySQL 5.x / 8.x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8张业务表 + 自动建表DDL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1371600"/>
            <a:ext cx="260604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235440" y="1371600"/>
            <a:ext cx="2606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72600" y="1508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Microsoft YaHei"/>
              </a:defRPr>
            </a:pPr>
            <a:r>
              <a:t>Web 服务器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828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嵌入式Tomcat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Tomcat 7 (tomcat7-maven-plugin)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端口: 8080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Context: /SparkProject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Servlet 3.1 | WAR 部署包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3840480"/>
            <a:ext cx="50292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3977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🛠  运维脚本 (Shell)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434840"/>
            <a:ext cx="4480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spark-analysis.sh — 依次执行5个批处理Job (spark-submit)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start-kafka.sh — 启动Consumer → Producer，记录PID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stop-kafka.sh — 根据PID停止Consumer和Producer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update-certain.sh — 触发实时流测试 (写入UpdateCertain)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Maven构建: mvn clean package  → 生成WAR包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840480"/>
            <a:ext cx="502920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0" y="3977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🚀  构建与部署流程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434840"/>
            <a:ext cx="4480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1. mvn clean compile — Scala + Java 混合编译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2. mvn package — 生成 WAR 包 (web可视化)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3. mvn assembly:single — 生成 Fat JAR (Spark提交)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4. spark-submit --class ... --master spark://... JAR包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5. mvn tomcat7:run — 启动Web可视化服务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6. start-kafka.sh — 启动实时流处理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SparkSQL 房源信息分析系统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2026/06 | Spark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6DB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Microsoft YaHei"/>
              </a:defRPr>
            </a:pPr>
            <a:r>
              <a:t>功能特性总结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Key Features &amp;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949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Microsoft YaHei"/>
              </a:defRPr>
            </a:pPr>
            <a:r>
              <a:t>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Lambda 批流一体架构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1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同时支持Spark SQL批量离线分析和Kafka实时流处理，确保数据完整性的同时提供低延迟更新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3949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Microsoft YaHei"/>
              </a:defRPr>
            </a:pPr>
            <a:r>
              <a:t>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完善的数据清洗流程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87451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中文列名规范化、空值过滤、衍生字段计算(rowkey/单价/房龄)、电梯文本数字化、数据质量过滤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06040"/>
            <a:ext cx="53949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多维分析能力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1089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覆盖面积区间(4档)、行政区划、建筑年代(5档)、社区级别4大维度，提供均价/中位数/方差/分布等多维指标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606040"/>
            <a:ext cx="53949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实时流处理 + 断点续传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1089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Kafka Producer-Consumer模式，支持checkpoint断点恢复，加权平均合并算法保证数据准确性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53949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ECharts可视化大屏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343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5张交互式图表，暗色主题，3秒自动刷新实时数据，响应式布局适配多种屏幕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840480"/>
            <a:ext cx="53949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Microsoft YaHei"/>
              </a:defRPr>
            </a:pPr>
            <a:r>
              <a:t>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数据仓库分层建模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343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ODS(操作数据层) → DWD(明细数据层) → ADS(应用数据层) 三层架构，数据血缘清晰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74920"/>
            <a:ext cx="53949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Microsoft YaHei"/>
              </a:defRPr>
            </a:pPr>
            <a:r>
              <a:t>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标准化工程实践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577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Maven多模块构建、Shell脚本自动化运维、Hive Metastore集成、Fat JAR + WAR双打包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074920"/>
            <a:ext cx="53949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完善的文档体系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577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数据字典(544行)、DDL建表脚本、可行性分析报告、软件架构文档、代码注释完整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SparkSQL 房源信息分析系统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2026/06 | Spark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6DB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Microsoft YaHei"/>
              </a:defRPr>
            </a:pPr>
            <a:r>
              <a:t>技术栈一览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Technology Stack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icrosoft YaHei"/>
              </a:defRPr>
            </a:pPr>
            <a:r>
              <a:t>数据处理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45720" cy="32004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5822"/>
                </a:solidFill>
                <a:latin typeface="Microsoft YaHei"/>
              </a:defRPr>
            </a:pPr>
            <a:r>
              <a:t>Spark Core 2.4.6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10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分布式计算引擎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8308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783080"/>
            <a:ext cx="45720" cy="32004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810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5822"/>
                </a:solidFill>
                <a:latin typeface="Microsoft YaHei"/>
              </a:defRPr>
            </a:pPr>
            <a:r>
              <a:t>Spark SQL 2.4.6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810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SQL分析引擎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4884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148840"/>
            <a:ext cx="45720" cy="320040"/>
          </a:xfrm>
          <a:prstGeom prst="rect">
            <a:avLst/>
          </a:prstGeom>
          <a:solidFill>
            <a:srgbClr val="E25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176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5822"/>
                </a:solidFill>
                <a:latin typeface="Microsoft YaHei"/>
              </a:defRPr>
            </a:pPr>
            <a:r>
              <a:t>Spark Hive 2.4.6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Hive元数据集成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4884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2148840"/>
            <a:ext cx="45720" cy="320040"/>
          </a:xfrm>
          <a:prstGeom prst="rect">
            <a:avLst/>
          </a:prstGeom>
          <a:solidFill>
            <a:srgbClr val="DC3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2176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322F"/>
                </a:solidFill>
                <a:latin typeface="Microsoft YaHei"/>
              </a:defRPr>
            </a:pPr>
            <a:r>
              <a:t>Scala 2.11.12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批处理编程语言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icrosoft YaHei"/>
              </a:defRPr>
            </a:pPr>
            <a:r>
              <a:t>消息队列 &amp; 流处理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15468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3154680"/>
            <a:ext cx="45720" cy="32004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182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1F20"/>
                </a:solidFill>
                <a:latin typeface="Microsoft YaHei"/>
              </a:defRPr>
            </a:pPr>
            <a:r>
              <a:t>Kafka 2.2.0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182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分布式消息队列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15468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3154680"/>
            <a:ext cx="45720" cy="32004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3182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1F20"/>
                </a:solidFill>
                <a:latin typeface="Microsoft YaHei"/>
              </a:defRPr>
            </a:pPr>
            <a:r>
              <a:t>Kafka Producer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182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实时数据生产者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52044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3520440"/>
            <a:ext cx="45720" cy="32004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3547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1F20"/>
                </a:solidFill>
                <a:latin typeface="Microsoft YaHei"/>
              </a:defRPr>
            </a:pPr>
            <a:r>
              <a:t>Kafka Consumer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547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实时数据消费者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52044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0" y="3520440"/>
            <a:ext cx="45720" cy="3200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3547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D8B00"/>
                </a:solidFill>
                <a:latin typeface="Microsoft YaHei"/>
              </a:defRPr>
            </a:pPr>
            <a:r>
              <a:t>Java 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547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流处理编程语言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icrosoft YaHei"/>
              </a:defRPr>
            </a:pPr>
            <a:r>
              <a:t>数据存储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52628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1520" y="4526280"/>
            <a:ext cx="45720" cy="320040"/>
          </a:xfrm>
          <a:prstGeom prst="rect">
            <a:avLst/>
          </a:prstGeom>
          <a:solidFill>
            <a:srgbClr val="447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4553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78A1"/>
                </a:solidFill>
                <a:latin typeface="Microsoft YaHei"/>
              </a:defRPr>
            </a:pPr>
            <a:r>
              <a:t>MySQL 5.x/8.x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553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关系型数据库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52628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4526280"/>
            <a:ext cx="45720" cy="320040"/>
          </a:xfrm>
          <a:prstGeom prst="rect">
            <a:avLst/>
          </a:prstGeom>
          <a:solidFill>
            <a:srgbClr val="447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37960" y="4553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78A1"/>
                </a:solidFill>
                <a:latin typeface="Microsoft YaHei"/>
              </a:defRPr>
            </a:pPr>
            <a:r>
              <a:t>MySQL Connector 5.1.47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553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JDBC驱动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89204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31520" y="4892040"/>
            <a:ext cx="45720" cy="320040"/>
          </a:xfrm>
          <a:prstGeom prst="rect">
            <a:avLst/>
          </a:prstGeom>
          <a:solidFill>
            <a:srgbClr val="FD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8680" y="4919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EE00"/>
                </a:solidFill>
                <a:latin typeface="Microsoft YaHei"/>
              </a:defRPr>
            </a:pPr>
            <a:r>
              <a:t>Hive Metastore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4919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元数据存储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489204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400800" y="4892040"/>
            <a:ext cx="45720" cy="320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37960" y="4919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Microsoft YaHei"/>
              </a:defRPr>
            </a:pPr>
            <a:r>
              <a:t>HDFS (隐含)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4919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底层文件系统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icrosoft YaHei"/>
              </a:defRPr>
            </a:pPr>
            <a:r>
              <a:t>Web可视化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589788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" y="5897880"/>
            <a:ext cx="45720" cy="32004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8680" y="5925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B33F"/>
                </a:solidFill>
                <a:latin typeface="Microsoft YaHei"/>
              </a:defRPr>
            </a:pPr>
            <a:r>
              <a:t>Java Servlet 3.1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0" y="5925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REST API后端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589788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400800" y="5897880"/>
            <a:ext cx="45720" cy="32004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37960" y="5925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B33F"/>
                </a:solidFill>
                <a:latin typeface="Microsoft YaHei"/>
              </a:defRPr>
            </a:pPr>
            <a:r>
              <a:t>JSP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5925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动态页面模板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1520" y="626364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31520" y="6263640"/>
            <a:ext cx="45720" cy="320040"/>
          </a:xfrm>
          <a:prstGeom prst="rect">
            <a:avLst/>
          </a:prstGeom>
          <a:solidFill>
            <a:srgbClr val="A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68680" y="6291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A3366"/>
                </a:solidFill>
                <a:latin typeface="Microsoft YaHei"/>
              </a:defRPr>
            </a:pPr>
            <a:r>
              <a:t>ECharts 5.4.3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0" y="6291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数据可视化图表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0" y="6263640"/>
            <a:ext cx="539496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400800" y="6263640"/>
            <a:ext cx="45720" cy="32004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37960" y="6291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6699"/>
                </a:solidFill>
                <a:latin typeface="Microsoft YaHei"/>
              </a:defRPr>
            </a:pPr>
            <a:r>
              <a:t>Gson 2.8.6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26880" y="6291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JSON序列化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💡 注意: Spark依赖使用Scala 2.11版本(spark-*_2.11)，而Kafka客户端使用Scala 2.12版本(kafka_2.12)，存在版本兼容性风险，建议统一Scala版本。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SparkSQL 房源信息分析系统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2026/06 | Spark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6DB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Microsoft YaHei"/>
              </a:defRPr>
            </a:pPr>
            <a:r>
              <a:t>项目目录结构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Project Directory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📂 src/main/scala/com/qdu/jdbc/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Write2Db.scala      — CSV读取+数据清洗入库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AreaAnalysis.scala   — 面积区间分析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DistrictAnalysis.scala — 行政区分析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YearAnalysis.scala   — 建筑年代分析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CommunityAnalysis.scala — 社区级别分析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📂 src/main/scala/com/qdu/kafka/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Producer.java        — Kafka生产者(1秒轮询)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Consumer.java        — Kafka消费者(内存聚合)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UpdateCertain.java   — 实时流测试工具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Microsoft YaHei"/>
              </a:defRPr>
            </a:pPr>
            <a:r>
              <a:t>📂 src/main/java/com/qdu/web/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5195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DataServlet.java     — REST API统一端点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5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DbUtil.java          — MySQL连接工具类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5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icrosoft YaHei"/>
              </a:defRPr>
            </a:pPr>
            <a:r>
              <a:t>📂 src/main/webapp/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3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index.jsp            — ECharts大屏主页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4923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css/style.css        — 暗色主题样式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3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WEB-INF/web.xml      — Servlet 3.1配置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978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📂 src/main/resources/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21791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wholedata.csv/zip    — 100万+房源数据集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44651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house_info.sql       — 8张表DDL脚本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67511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data_dictionary.md   — 544行数据字典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90371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hive-site.xml        — Hive Metastore配置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713231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*.sh                 — 运维Shell脚本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SparkSQL 房源信息分析系统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2026/06 | Spark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Summary &amp; Future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2920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🏆  ✅ 项目成果总结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23160"/>
            <a:ext cx="44805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构建了完整的Lambda架构大数据分析平台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实现百万级房源数据的自动化清洗与标准化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完成4大维度(面积/行政区/年代/社区)多维分析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基于Kafka实现实时流处理 + 断点续传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搭建ECharts数据可视化大屏(5张图表)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建立ODS→DWD→ADS三层数据仓库模型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编写完善的数据字典(544行)和DDL脚本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提供一键化的Shell运维脚本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支持Fat JAR批量提交 + WAR Web部署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2920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9659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🚀  🔮 未来改进方向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23160"/>
            <a:ext cx="44805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升级Spark 3.x / Scala 2.12，统一Kafka版本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引入Spring Boot替代传统Servlet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使用MyBatis/ORM替换原始JDBC操作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配置信息外部化(application.yml)，消除硬编码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集成数据质量监控与告警机制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增加缓存层(Redis)减轻MySQL查询压力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前端升级为现代SPA框架(Vue/React)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使用Spark Structured Streaming替代自建流处理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添加Docker容器化部署支持</a:t>
            </a:r>
          </a:p>
          <a:p>
            <a:pPr>
              <a:spcAft>
                <a:spcPts val="400"/>
              </a:spcAft>
              <a:defRPr sz="1200">
                <a:solidFill>
                  <a:srgbClr val="6B7280"/>
                </a:solidFill>
                <a:latin typeface="Microsoft YaHei"/>
              </a:defRPr>
            </a:pPr>
            <a:r>
              <a:t>• 引入用户权限认证与数据安全机制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谢谢观看！ 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2169</Words>
  <Application>Microsoft Office PowerPoint</Application>
  <PresentationFormat>宽屏</PresentationFormat>
  <Paragraphs>408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家政 陈</cp:lastModifiedBy>
  <cp:revision>4</cp:revision>
  <dcterms:created xsi:type="dcterms:W3CDTF">2013-01-27T09:14:16Z</dcterms:created>
  <dcterms:modified xsi:type="dcterms:W3CDTF">2026-06-27T06:33:30Z</dcterms:modified>
  <cp:category/>
</cp:coreProperties>
</file>