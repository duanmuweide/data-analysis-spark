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64" r:id="rId3"/>
    <p:sldId id="268" r:id="rId4"/>
    <p:sldId id="267" r:id="rId5"/>
    <p:sldId id="271" r:id="rId6"/>
    <p:sldId id="270" r:id="rId7"/>
    <p:sldId id="262" r:id="rId8"/>
    <p:sldId id="273" r:id="rId9"/>
    <p:sldId id="272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17" autoAdjust="0"/>
    <p:restoredTop sz="94660"/>
  </p:normalViewPr>
  <p:slideViewPr>
    <p:cSldViewPr snapToGrid="0">
      <p:cViewPr varScale="1">
        <p:scale>
          <a:sx n="72" d="100"/>
          <a:sy n="72" d="100"/>
        </p:scale>
        <p:origin x="2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37887B19-F53D-4BD7-9222-3E7F0FAF0826}"/>
              </a:ext>
            </a:extLst>
          </p:cNvPr>
          <p:cNvSpPr>
            <a:spLocks/>
          </p:cNvSpPr>
          <p:nvPr userDrawn="1"/>
        </p:nvSpPr>
        <p:spPr bwMode="auto">
          <a:xfrm rot="859120" flipH="1">
            <a:off x="-1381342" y="-1207692"/>
            <a:ext cx="3371272" cy="8927307"/>
          </a:xfrm>
          <a:prstGeom prst="rect">
            <a:avLst/>
          </a:prstGeom>
          <a:gradFill rotWithShape="0">
            <a:gsLst>
              <a:gs pos="57000">
                <a:srgbClr val="549FF3"/>
              </a:gs>
              <a:gs pos="100000">
                <a:srgbClr val="3D36BA"/>
              </a:gs>
            </a:gsLst>
            <a:lin ang="5400000"/>
          </a:gradFill>
          <a:ln>
            <a:noFill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>
            <a:lvl1pPr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ctr" eaLnBrk="1"/>
            <a:endParaRPr lang="zh-CN" altLang="zh-CN" sz="1600">
              <a:solidFill>
                <a:srgbClr val="FFFFFF"/>
              </a:solidFill>
              <a:ea typeface="SimSun" panose="02010600030101010101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3599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r">
              <a:buNone/>
              <a:defRPr sz="28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2C2E44-293D-4CE9-B437-38578EAF30C8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78D8BECF-B51D-4F69-A4D2-B460B91F34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4618"/>
            <a:ext cx="2659642" cy="132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95BF15-D72E-4E4E-91BA-005481991A52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56C3853D-7FF2-466F-ABFC-F4D315C345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0512B6-C6BE-4337-A445-D3A171D563C3}" type="slidenum">
              <a:rPr lang="zh-CN" altLang="zh-CN"/>
              <a:pPr/>
              <a:t>‹#›</a:t>
            </a:fld>
            <a:endParaRPr lang="zh-CN" altLang="zh-C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C337904-0B9E-4176-9C06-8DAC328C06DE}"/>
              </a:ext>
            </a:extLst>
          </p:cNvPr>
          <p:cNvSpPr>
            <a:spLocks/>
          </p:cNvSpPr>
          <p:nvPr userDrawn="1"/>
        </p:nvSpPr>
        <p:spPr bwMode="auto">
          <a:xfrm rot="859120" flipH="1">
            <a:off x="-1381342" y="-1207692"/>
            <a:ext cx="3371272" cy="8927307"/>
          </a:xfrm>
          <a:prstGeom prst="rect">
            <a:avLst/>
          </a:prstGeom>
          <a:gradFill rotWithShape="0">
            <a:gsLst>
              <a:gs pos="58000">
                <a:srgbClr val="549FF3"/>
              </a:gs>
              <a:gs pos="100000">
                <a:srgbClr val="3D36BA"/>
              </a:gs>
            </a:gsLst>
            <a:lin ang="5400000"/>
          </a:gradFill>
          <a:ln>
            <a:noFill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>
            <a:lvl1pPr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ctr" eaLnBrk="1"/>
            <a:endParaRPr lang="zh-CN" altLang="zh-CN" sz="1600">
              <a:solidFill>
                <a:srgbClr val="FFFFFF"/>
              </a:solidFill>
              <a:ea typeface="SimSun" panose="02010600030101010101" pitchFamily="2" charset="-122"/>
            </a:endParaRP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3861FDE1-7B29-4CA4-90DD-E06D26DC49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4618"/>
            <a:ext cx="2659642" cy="13298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719262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173967"/>
            <a:ext cx="10515600" cy="1915684"/>
          </a:xfrm>
        </p:spPr>
        <p:txBody>
          <a:bodyPr/>
          <a:lstStyle>
            <a:lvl1pPr marL="0" indent="0" algn="r">
              <a:buNone/>
              <a:defRPr sz="2800"/>
            </a:lvl1pPr>
            <a:lvl2pPr marL="228600" indent="0">
              <a:buNone/>
              <a:defRPr sz="1000"/>
            </a:lvl2pPr>
            <a:lvl3pPr marL="457200" indent="0">
              <a:buNone/>
              <a:defRPr sz="900"/>
            </a:lvl3pPr>
            <a:lvl4pPr marL="685800" indent="0">
              <a:buNone/>
              <a:defRPr sz="800"/>
            </a:lvl4pPr>
            <a:lvl5pPr marL="914400" indent="0">
              <a:buNone/>
              <a:defRPr sz="800"/>
            </a:lvl5pPr>
            <a:lvl6pPr marL="1143000" indent="0">
              <a:buNone/>
              <a:defRPr sz="800"/>
            </a:lvl6pPr>
            <a:lvl7pPr marL="1371600" indent="0">
              <a:buNone/>
              <a:defRPr sz="800"/>
            </a:lvl7pPr>
            <a:lvl8pPr marL="1600200" indent="0">
              <a:buNone/>
              <a:defRPr sz="800"/>
            </a:lvl8pPr>
            <a:lvl9pPr marL="1828800" indent="0">
              <a:buNone/>
              <a:defRPr sz="800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4548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0519" y="607218"/>
            <a:ext cx="7804944" cy="110656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39965" y="1830388"/>
            <a:ext cx="3863975" cy="4420394"/>
          </a:xfrm>
        </p:spPr>
        <p:txBody>
          <a:bodyPr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33306" y="1830388"/>
            <a:ext cx="3864769" cy="4420394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575B06-9A48-44CB-BF22-441D24A07EA7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3DBF766B-A79A-47E3-A8A4-F20D3785D3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580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078301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7" y="1681163"/>
            <a:ext cx="5157788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7" y="2505075"/>
            <a:ext cx="51577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3"/>
          </a:xfrm>
        </p:spPr>
        <p:txBody>
          <a:bodyPr anchor="b"/>
          <a:lstStyle>
            <a:lvl1pPr marL="0" indent="0">
              <a:buNone/>
              <a:defRPr lang="en-US" altLang="zh-CN" sz="24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 charset="0"/>
              </a:defRPr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296D34-F81A-46A2-8AD8-39966004D08F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15D48B74-1623-4CF1-A84F-46B2BC73C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90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78D55F-A373-42D5-A264-B8E1D501BFC5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6AD8A316-5B60-4558-8ABF-CD2AA4BBB5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8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594138-9B44-4804-8A89-1E9C8739BAC6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FB88157-DD58-478C-AE64-6676DEBA1F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042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04633"/>
            <a:ext cx="3932238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04833"/>
            <a:ext cx="3932238" cy="3811588"/>
          </a:xfrm>
        </p:spPr>
        <p:txBody>
          <a:bodyPr/>
          <a:lstStyle>
            <a:lvl1pPr marL="0" indent="0">
              <a:buNone/>
              <a:defRPr sz="24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5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E2E900-EAB6-4B71-8F4C-9F49C009F645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3B617167-14B9-4E1B-8626-65F9446BE7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3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58418"/>
            <a:ext cx="3932238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pPr lvl="0"/>
            <a:endParaRPr lang="zh-CN" altLang="en-US" noProof="0">
              <a:sym typeface="Helvetica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58618"/>
            <a:ext cx="3932238" cy="3811588"/>
          </a:xfrm>
        </p:spPr>
        <p:txBody>
          <a:bodyPr/>
          <a:lstStyle>
            <a:lvl1pPr marL="0" indent="0">
              <a:buNone/>
              <a:defRPr sz="24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5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7794E7-4E28-4501-8019-5566C2C2BC83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DD88C70D-6027-48FC-86EC-5C3A896408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79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35C023-FE34-4344-A130-C228BB7E7256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4434A424-850E-4718-B7E9-624FA5B96A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60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47038" y="1830388"/>
            <a:ext cx="1951038" cy="4420394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132" y="1830388"/>
            <a:ext cx="5777706" cy="4420394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3F4BDC-C434-4A9D-BBDF-64FA4D5C18DB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DDCCB80E-6BD6-4CD7-A264-A5A956D4DD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69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5FCCA335-7914-4FD9-8F58-7115715F6B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16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 bwMode="auto">
          <a:xfrm>
            <a:off x="2193132" y="958906"/>
            <a:ext cx="7804944" cy="1518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71437" tIns="71437" rIns="71437" bIns="7143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Lantinghei SC Heavy" charset="0"/>
              </a:rPr>
              <a:t>Click to edit Master title style</a:t>
            </a:r>
          </a:p>
        </p:txBody>
      </p:sp>
      <p:pic>
        <p:nvPicPr>
          <p:cNvPr id="1027" name="Picture 2" descr="资源 1@4x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370270" flipH="1">
            <a:off x="5971382" y="-2408238"/>
            <a:ext cx="7548563" cy="722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9804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8" name="Picture 3" descr="pasted-image.pdf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0157" y="297656"/>
            <a:ext cx="1800225" cy="356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4"/>
          <p:cNvSpPr>
            <a:spLocks/>
          </p:cNvSpPr>
          <p:nvPr/>
        </p:nvSpPr>
        <p:spPr bwMode="auto">
          <a:xfrm>
            <a:off x="12063413" y="230188"/>
            <a:ext cx="234157" cy="453232"/>
          </a:xfrm>
          <a:prstGeom prst="rect">
            <a:avLst/>
          </a:prstGeom>
          <a:solidFill>
            <a:srgbClr val="081BA5"/>
          </a:solidFill>
          <a:ln>
            <a:noFill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  <p:txBody>
          <a:bodyPr lIns="35719" tIns="35719" rIns="35719" bIns="35719" anchor="ctr"/>
          <a:lstStyle>
            <a:lvl1pPr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ctr" eaLnBrk="1"/>
            <a:endParaRPr lang="zh-CN" altLang="zh-CN" sz="1600">
              <a:solidFill>
                <a:srgbClr val="FFFFFF"/>
              </a:solidFill>
              <a:ea typeface="SimSun" panose="02010600030101010101" pitchFamily="2" charset="-122"/>
            </a:endParaRPr>
          </a:p>
        </p:txBody>
      </p:sp>
      <p:sp>
        <p:nvSpPr>
          <p:cNvPr id="1030" name="Rectangle 5"/>
          <p:cNvSpPr>
            <a:spLocks noGrp="1"/>
          </p:cNvSpPr>
          <p:nvPr>
            <p:ph type="body" idx="1"/>
          </p:nvPr>
        </p:nvSpPr>
        <p:spPr bwMode="auto">
          <a:xfrm>
            <a:off x="2193132" y="2594181"/>
            <a:ext cx="7804944" cy="403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71437" tIns="71437" rIns="71437" bIns="7143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dirty="0">
                <a:sym typeface="Helvetica Light" charset="0"/>
              </a:rPr>
              <a:t>Click to edit Master text styles</a:t>
            </a:r>
          </a:p>
          <a:p>
            <a:pPr lvl="1"/>
            <a:r>
              <a:rPr lang="zh-CN" altLang="zh-CN" dirty="0">
                <a:sym typeface="Helvetica Light" charset="0"/>
              </a:rPr>
              <a:t>Second level</a:t>
            </a:r>
          </a:p>
          <a:p>
            <a:pPr lvl="2"/>
            <a:r>
              <a:rPr lang="zh-CN" altLang="zh-CN" dirty="0">
                <a:sym typeface="Helvetica Light" charset="0"/>
              </a:rPr>
              <a:t>Third level</a:t>
            </a:r>
          </a:p>
          <a:p>
            <a:pPr lvl="3"/>
            <a:r>
              <a:rPr lang="zh-CN" altLang="zh-CN" dirty="0">
                <a:sym typeface="Helvetica Light" charset="0"/>
              </a:rPr>
              <a:t>Fourth level</a:t>
            </a:r>
          </a:p>
          <a:p>
            <a:pPr lvl="4"/>
            <a:r>
              <a:rPr lang="zh-CN" altLang="zh-CN" dirty="0">
                <a:sym typeface="Helvetica Light" charset="0"/>
              </a:rPr>
              <a:t>Fifth level</a:t>
            </a:r>
          </a:p>
        </p:txBody>
      </p:sp>
      <p:sp>
        <p:nvSpPr>
          <p:cNvPr id="3" name="Rectangle 6"/>
          <p:cNvSpPr>
            <a:spLocks noGrp="1"/>
          </p:cNvSpPr>
          <p:nvPr>
            <p:ph type="sldNum" sz="quarter" idx="2"/>
          </p:nvPr>
        </p:nvSpPr>
        <p:spPr bwMode="auto">
          <a:xfrm>
            <a:off x="5967413" y="6504782"/>
            <a:ext cx="247650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71437" tIns="71437" rIns="71437" bIns="71437" numCol="1" anchor="t" anchorCtr="0" compatLnSpc="1">
            <a:prstTxWarp prst="textNoShape">
              <a:avLst/>
            </a:prstTxWarp>
          </a:bodyPr>
          <a:lstStyle>
            <a:lvl1pPr algn="ctr" eaLnBrk="1">
              <a:defRPr sz="1200">
                <a:ea typeface="SimSun" panose="02010600030101010101" pitchFamily="2" charset="-122"/>
              </a:defRPr>
            </a:lvl1pPr>
          </a:lstStyle>
          <a:p>
            <a:fld id="{4A3DB189-EA9E-4FF3-A80F-706F2B8DAECD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6419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410369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000000"/>
          </a:solidFill>
          <a:latin typeface="+mj-lt"/>
          <a:ea typeface="+mj-ea"/>
          <a:cs typeface="+mj-cs"/>
          <a:sym typeface="Lantinghei SC Heavy" charset="0"/>
        </a:defRPr>
      </a:lvl1pPr>
      <a:lvl2pPr algn="ctr" defTabSz="410369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2pPr>
      <a:lvl3pPr algn="ctr" defTabSz="410369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3pPr>
      <a:lvl4pPr algn="ctr" defTabSz="410369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4pPr>
      <a:lvl5pPr algn="ctr" defTabSz="410369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5pPr>
      <a:lvl6pPr marL="228600" algn="ctr" defTabSz="410369" rtl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6pPr>
      <a:lvl7pPr marL="457200" algn="ctr" defTabSz="410369" rtl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7pPr>
      <a:lvl8pPr marL="685800" algn="ctr" defTabSz="410369" rtl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8pPr>
      <a:lvl9pPr marL="914400" algn="ctr" defTabSz="410369" rtl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9pPr>
    </p:titleStyle>
    <p:bodyStyle>
      <a:lvl1pPr marL="307975" indent="-307975" algn="l" defTabSz="410369" rtl="0" eaLnBrk="0" fontAlgn="base" hangingPunct="0">
        <a:spcBef>
          <a:spcPts val="2950"/>
        </a:spcBef>
        <a:spcAft>
          <a:spcPct val="0"/>
        </a:spcAft>
        <a:buSzPct val="75000"/>
        <a:buChar char="•"/>
        <a:defRPr sz="2500" kern="12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1pPr>
      <a:lvl2pPr marL="530225" indent="-307975" algn="l" defTabSz="410369" rtl="0" eaLnBrk="0" fontAlgn="base" hangingPunct="0">
        <a:spcBef>
          <a:spcPts val="2950"/>
        </a:spcBef>
        <a:spcAft>
          <a:spcPct val="0"/>
        </a:spcAft>
        <a:buSzPct val="75000"/>
        <a:buChar char="•"/>
        <a:defRPr sz="2500" kern="12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2pPr>
      <a:lvl3pPr marL="752475" indent="-307975" algn="l" defTabSz="410369" rtl="0" eaLnBrk="0" fontAlgn="base" hangingPunct="0">
        <a:spcBef>
          <a:spcPts val="2950"/>
        </a:spcBef>
        <a:spcAft>
          <a:spcPct val="0"/>
        </a:spcAft>
        <a:buSzPct val="75000"/>
        <a:buChar char="•"/>
        <a:defRPr sz="2500" kern="12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3pPr>
      <a:lvl4pPr marL="974725" indent="-307975" algn="l" defTabSz="410369" rtl="0" eaLnBrk="0" fontAlgn="base" hangingPunct="0">
        <a:spcBef>
          <a:spcPts val="2950"/>
        </a:spcBef>
        <a:spcAft>
          <a:spcPct val="0"/>
        </a:spcAft>
        <a:buSzPct val="75000"/>
        <a:buChar char="•"/>
        <a:defRPr sz="2500" kern="12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4pPr>
      <a:lvl5pPr marL="1196975" indent="-307975" algn="l" defTabSz="410369" rtl="0" eaLnBrk="0" fontAlgn="base" hangingPunct="0">
        <a:spcBef>
          <a:spcPts val="2950"/>
        </a:spcBef>
        <a:spcAft>
          <a:spcPct val="0"/>
        </a:spcAft>
        <a:buSzPct val="75000"/>
        <a:buChar char="•"/>
        <a:defRPr sz="2500" kern="12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55645-F46D-434E-88E5-7A7AE6CC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367" y="-424069"/>
            <a:ext cx="7832138" cy="1662341"/>
          </a:xfrm>
        </p:spPr>
        <p:txBody>
          <a:bodyPr/>
          <a:lstStyle/>
          <a:p>
            <a:r>
              <a:rPr lang="zh-CN" altLang="en-US" dirty="0"/>
              <a:t>数据库关系图</a:t>
            </a:r>
            <a:endParaRPr lang="en-I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B8E620-D671-BE0B-96C1-D2E5ED6F0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791" y="1290198"/>
            <a:ext cx="6493565" cy="479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92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CC8F-7A71-4A26-9E98-A1350BB1F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993" y="-339807"/>
            <a:ext cx="7804944" cy="1518444"/>
          </a:xfrm>
        </p:spPr>
        <p:txBody>
          <a:bodyPr/>
          <a:lstStyle/>
          <a:p>
            <a:r>
              <a:rPr lang="zh-CN" altLang="en-US" dirty="0"/>
              <a:t>功能展示截图</a:t>
            </a:r>
            <a:endParaRPr lang="en-I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84A5AE-2B24-99DC-D662-0809D1DD3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8383"/>
            <a:ext cx="5562180" cy="24682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489B0B7-9F7D-DF74-75FA-6E1D59027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180" y="692094"/>
            <a:ext cx="6252133" cy="356848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9F3BAEE-547C-E0DE-F20F-B8590A37A4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76600"/>
            <a:ext cx="5135217" cy="346952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B8FC94A-5399-738E-F207-7D0F093842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957" y="4359454"/>
            <a:ext cx="6533322" cy="236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082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43DA5E0-FFF5-CAE9-4EFD-29D771C39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450307"/>
            <a:ext cx="6200995" cy="5038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3217184-F3B1-55F6-00B0-2D414C2C5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050" y="1294568"/>
            <a:ext cx="5721195" cy="514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040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17C1B0B-C422-B89E-742E-791871DA5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8" y="1278834"/>
            <a:ext cx="5571838" cy="49629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8CC730-21AB-7317-4599-47A90E7C7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000" y="1213778"/>
            <a:ext cx="5438079" cy="502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69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C5711-1092-4842-BDC1-524640DD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CE4FF6C-4ACF-2819-A56E-B1986B3EF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6" y="1424609"/>
            <a:ext cx="6213231" cy="42141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3A490C8-47BE-5C94-9011-C6AA3541B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459" y="1477617"/>
            <a:ext cx="6789541" cy="400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0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F2441-0AB2-13C7-326D-93809D39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5AF10C-1799-A65C-5AE0-B1FBFC762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3877"/>
            <a:ext cx="6263254" cy="47026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90024C8-45A7-A79E-AE32-C5C832AD7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623" y="1313877"/>
            <a:ext cx="6558377" cy="484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72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533FB7B-6053-5632-5150-9898A7AB7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42" y="294861"/>
            <a:ext cx="5453271" cy="30222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E1EA6E5-8D02-B40C-6BF4-35623BE55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04" y="3317067"/>
            <a:ext cx="6758609" cy="350270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EE54922-F053-3D83-992C-81791C59545A}"/>
              </a:ext>
            </a:extLst>
          </p:cNvPr>
          <p:cNvSpPr txBox="1"/>
          <p:nvPr/>
        </p:nvSpPr>
        <p:spPr>
          <a:xfrm>
            <a:off x="7346675" y="1392415"/>
            <a:ext cx="479231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</a:rPr>
              <a:t>消费流程：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  ① 订阅 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Topic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，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poll(</a:t>
            </a:r>
            <a:r>
              <a:rPr lang="en-US" altLang="zh-CN" sz="1800" b="0" dirty="0" err="1">
                <a:solidFill>
                  <a:schemeClr val="tx2">
                    <a:lumMod val="50000"/>
                  </a:schemeClr>
                </a:solidFill>
              </a:rPr>
              <a:t>Duration.ofMillis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(100))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拉取消息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  ② 判断消息类型：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     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普通消息 → 解析 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community + </a:t>
            </a:r>
            <a:r>
              <a:rPr lang="en-US" altLang="zh-CN" sz="1800" b="0" dirty="0" err="1">
                <a:solidFill>
                  <a:schemeClr val="tx2">
                    <a:lumMod val="50000"/>
                  </a:schemeClr>
                </a:solidFill>
              </a:rPr>
              <a:t>price_per_sqm</a:t>
            </a:r>
            <a:endParaRPr lang="en-US" altLang="zh-CN" sz="1800" b="0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     • __END_OF_BATCH__ →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触发 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MySQL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批量写入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  ③ 内存聚合：</a:t>
            </a:r>
            <a:r>
              <a:rPr lang="en-US" altLang="zh-CN" sz="1800" b="0" dirty="0" err="1">
                <a:solidFill>
                  <a:schemeClr val="tx2">
                    <a:lumMod val="50000"/>
                  </a:schemeClr>
                </a:solidFill>
              </a:rPr>
              <a:t>ConcurrentHashMap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&lt;String, long[]&gt;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     Key =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小区名，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Value = [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房屋数量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单价总和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]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  ④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收到结束标记后，批量写入 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MySQL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  ⑤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清空内存容器，准备下一批次</a:t>
            </a:r>
            <a:endParaRPr lang="zh-CN" altLang="en-US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181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A273E-502F-FCCD-8C34-75AC81F1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86D5EB5-457D-A143-6D2F-B25BBFD8B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40" y="788777"/>
            <a:ext cx="4756105" cy="41173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AF48A52-8E80-8A76-32DA-A6AD6BFD3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445" y="804843"/>
            <a:ext cx="6228842" cy="408520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D318512-414F-F2F3-6528-1C210162A232}"/>
              </a:ext>
            </a:extLst>
          </p:cNvPr>
          <p:cNvSpPr txBox="1"/>
          <p:nvPr/>
        </p:nvSpPr>
        <p:spPr>
          <a:xfrm>
            <a:off x="773595" y="4922183"/>
            <a:ext cx="10212456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</a:rPr>
              <a:t>核心流程：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① 读取上次处理进度 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US" altLang="zh-CN" sz="1800" b="0" dirty="0" err="1">
                <a:solidFill>
                  <a:schemeClr val="tx2">
                    <a:lumMod val="50000"/>
                  </a:schemeClr>
                </a:solidFill>
              </a:rPr>
              <a:t>kafka_producer_progress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表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) ②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按 </a:t>
            </a:r>
            <a:r>
              <a:rPr lang="en-US" altLang="zh-CN" sz="1800" b="0" dirty="0" err="1">
                <a:solidFill>
                  <a:schemeClr val="tx2">
                    <a:lumMod val="50000"/>
                  </a:schemeClr>
                </a:solidFill>
              </a:rPr>
              <a:t>checkid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自增轮询，每次查询该批次数据    ③ 过滤条件：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district="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海淀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" AND area∈[90,144) ㎡ ④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逐条构造 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JSON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消息 → </a:t>
            </a:r>
            <a:r>
              <a:rPr lang="en-US" altLang="zh-CN" sz="1800" b="0" dirty="0" err="1">
                <a:solidFill>
                  <a:schemeClr val="tx2">
                    <a:lumMod val="50000"/>
                  </a:schemeClr>
                </a:solidFill>
              </a:rPr>
              <a:t>KafkaProducer.send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⑤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发送批次结束标记 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__END_OF_BATCH__              ⑥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持久化进度 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US" altLang="zh-CN" sz="1800" b="0" dirty="0" err="1">
                <a:solidFill>
                  <a:schemeClr val="tx2">
                    <a:lumMod val="50000"/>
                  </a:schemeClr>
                </a:solidFill>
              </a:rPr>
              <a:t>kafka_producer_progress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⑦ </a:t>
            </a:r>
            <a:r>
              <a:rPr lang="en-US" altLang="zh-CN" sz="1800" b="0" dirty="0" err="1">
                <a:solidFill>
                  <a:schemeClr val="tx2">
                    <a:lumMod val="50000"/>
                  </a:schemeClr>
                </a:solidFill>
              </a:rPr>
              <a:t>checkid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++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，间隔 </a:t>
            </a:r>
            <a:r>
              <a:rPr lang="en-US" altLang="zh-CN" sz="1800" b="0" dirty="0">
                <a:solidFill>
                  <a:schemeClr val="tx2">
                    <a:lumMod val="50000"/>
                  </a:schemeClr>
                </a:solidFill>
              </a:rPr>
              <a:t>1 </a:t>
            </a:r>
            <a:r>
              <a:rPr lang="zh-CN" altLang="en-US" sz="1800" b="0" dirty="0">
                <a:solidFill>
                  <a:schemeClr val="tx2">
                    <a:lumMod val="50000"/>
                  </a:schemeClr>
                </a:solidFill>
              </a:rPr>
              <a:t>秒继续轮询</a:t>
            </a:r>
            <a:endParaRPr lang="zh-CN" altLang="en-US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283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0D2F6-2A77-2B6C-664C-6FB4804DB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E97261C-993B-CEED-97F2-A1C1C90D7B63}"/>
              </a:ext>
            </a:extLst>
          </p:cNvPr>
          <p:cNvSpPr txBox="1"/>
          <p:nvPr/>
        </p:nvSpPr>
        <p:spPr>
          <a:xfrm>
            <a:off x="2098813" y="485215"/>
            <a:ext cx="7364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altLang="zh-CN" sz="1800" b="1" dirty="0">
                <a:solidFill>
                  <a:schemeClr val="tx2">
                    <a:lumMod val="50000"/>
                  </a:schemeClr>
                </a:solidFill>
              </a:rPr>
              <a:t>MySQL </a:t>
            </a:r>
            <a:r>
              <a:rPr lang="zh-CN" altLang="en-US" sz="1800" b="1" dirty="0">
                <a:solidFill>
                  <a:schemeClr val="tx2">
                    <a:lumMod val="50000"/>
                  </a:schemeClr>
                </a:solidFill>
              </a:rPr>
              <a:t>源数据  →  </a:t>
            </a:r>
            <a:r>
              <a:rPr lang="en-US" altLang="zh-CN" sz="1800" b="1" dirty="0">
                <a:solidFill>
                  <a:schemeClr val="tx2">
                    <a:lumMod val="50000"/>
                  </a:schemeClr>
                </a:solidFill>
              </a:rPr>
              <a:t>Kafka Producer  →  Kafka </a:t>
            </a:r>
            <a:r>
              <a:rPr lang="zh-CN" altLang="en-US" sz="1800" b="1" dirty="0">
                <a:solidFill>
                  <a:schemeClr val="tx2">
                    <a:lumMod val="50000"/>
                  </a:schemeClr>
                </a:solidFill>
              </a:rPr>
              <a:t>集群  →  </a:t>
            </a:r>
            <a:r>
              <a:rPr lang="en-US" altLang="zh-CN" sz="1800" b="1" dirty="0">
                <a:solidFill>
                  <a:schemeClr val="tx2">
                    <a:lumMod val="50000"/>
                  </a:schemeClr>
                </a:solidFill>
              </a:rPr>
              <a:t>Kafka Consumer  →  MySQL </a:t>
            </a:r>
            <a:r>
              <a:rPr lang="zh-CN" altLang="en-US" sz="1800" b="1" dirty="0">
                <a:solidFill>
                  <a:schemeClr val="tx2">
                    <a:lumMod val="50000"/>
                  </a:schemeClr>
                </a:solidFill>
              </a:rPr>
              <a:t>结果表  →  </a:t>
            </a:r>
            <a:r>
              <a:rPr lang="en-US" altLang="zh-CN" sz="1800" b="1" dirty="0">
                <a:solidFill>
                  <a:schemeClr val="tx2">
                    <a:lumMod val="50000"/>
                  </a:schemeClr>
                </a:solidFill>
              </a:rPr>
              <a:t>/data </a:t>
            </a:r>
            <a:r>
              <a:rPr lang="zh-CN" altLang="en-US" sz="1800" b="1" dirty="0">
                <a:solidFill>
                  <a:schemeClr val="tx2">
                    <a:lumMod val="50000"/>
                  </a:schemeClr>
                </a:solidFill>
              </a:rPr>
              <a:t>接口  →  </a:t>
            </a:r>
            <a:r>
              <a:rPr lang="en-US" altLang="zh-CN" sz="1800" b="1" dirty="0">
                <a:solidFill>
                  <a:schemeClr val="tx2">
                    <a:lumMod val="50000"/>
                  </a:schemeClr>
                </a:solidFill>
              </a:rPr>
              <a:t>AJAX </a:t>
            </a:r>
            <a:r>
              <a:rPr lang="zh-CN" altLang="en-US" sz="1800" b="1" dirty="0">
                <a:solidFill>
                  <a:schemeClr val="tx2">
                    <a:lumMod val="50000"/>
                  </a:schemeClr>
                </a:solidFill>
              </a:rPr>
              <a:t>轮询  →  </a:t>
            </a:r>
            <a:r>
              <a:rPr lang="en-US" altLang="zh-CN" sz="1800" b="1" dirty="0" err="1">
                <a:solidFill>
                  <a:schemeClr val="tx2">
                    <a:lumMod val="50000"/>
                  </a:schemeClr>
                </a:solidFill>
              </a:rPr>
              <a:t>ECharts</a:t>
            </a:r>
            <a:r>
              <a:rPr lang="en-US" altLang="zh-CN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zh-CN" altLang="en-US" sz="1800" b="1" dirty="0">
                <a:solidFill>
                  <a:schemeClr val="tx2">
                    <a:lumMod val="50000"/>
                  </a:schemeClr>
                </a:solidFill>
              </a:rPr>
              <a:t>实时渲染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40076A-0CAB-3B1D-91D5-EF40CCF3A84E}"/>
              </a:ext>
            </a:extLst>
          </p:cNvPr>
          <p:cNvSpPr txBox="1"/>
          <p:nvPr/>
        </p:nvSpPr>
        <p:spPr>
          <a:xfrm>
            <a:off x="4663108" y="53872"/>
            <a:ext cx="7364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1800" b="1" dirty="0">
                <a:solidFill>
                  <a:srgbClr val="58A6FF"/>
                </a:solidFill>
              </a:rPr>
              <a:t>▎完整数据流链路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1AFCA4-E98B-75B0-E4B1-2DFB5BF85623}"/>
              </a:ext>
            </a:extLst>
          </p:cNvPr>
          <p:cNvSpPr txBox="1"/>
          <p:nvPr/>
        </p:nvSpPr>
        <p:spPr>
          <a:xfrm>
            <a:off x="523462" y="1193557"/>
            <a:ext cx="4328490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1" dirty="0">
                <a:solidFill>
                  <a:schemeClr val="tx2">
                    <a:lumMod val="50000"/>
                  </a:schemeClr>
                </a:solidFill>
              </a:rPr>
              <a:t>① 面积区间房价分析（左上）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   分组柱状图：</a:t>
            </a:r>
            <a:r>
              <a:rPr lang="en-US" altLang="zh-CN" sz="1200" b="0" dirty="0" err="1">
                <a:solidFill>
                  <a:schemeClr val="tx2">
                    <a:lumMod val="50000"/>
                  </a:schemeClr>
                </a:solidFill>
              </a:rPr>
              <a:t>area_range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 × </a:t>
            </a:r>
            <a:r>
              <a:rPr lang="en-US" altLang="zh-CN" sz="1200" b="0" dirty="0" err="1">
                <a:solidFill>
                  <a:schemeClr val="tx2">
                    <a:lumMod val="50000"/>
                  </a:schemeClr>
                </a:solidFill>
              </a:rPr>
              <a:t>price_level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，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4×4 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维度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   数据源：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/</a:t>
            </a:r>
            <a:r>
              <a:rPr lang="en-US" altLang="zh-CN" sz="1200" b="0" dirty="0" err="1">
                <a:solidFill>
                  <a:schemeClr val="tx2">
                    <a:lumMod val="50000"/>
                  </a:schemeClr>
                </a:solidFill>
              </a:rPr>
              <a:t>data?table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=area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（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Spark 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离线分析）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endParaRPr lang="zh-CN" altLang="en-US" sz="1200" b="0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1" dirty="0">
                <a:solidFill>
                  <a:schemeClr val="tx2">
                    <a:lumMod val="50000"/>
                  </a:schemeClr>
                </a:solidFill>
              </a:rPr>
              <a:t>② 市区房价对比（右上）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   柱状图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+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折线图：房价与房屋数量双轴展示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   数据源：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/</a:t>
            </a:r>
            <a:r>
              <a:rPr lang="en-US" altLang="zh-CN" sz="1200" b="0" dirty="0" err="1">
                <a:solidFill>
                  <a:schemeClr val="tx2">
                    <a:lumMod val="50000"/>
                  </a:schemeClr>
                </a:solidFill>
              </a:rPr>
              <a:t>data?table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=district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（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Spark 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离线分析）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endParaRPr lang="zh-CN" altLang="en-US" sz="1200" b="0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1" dirty="0">
                <a:solidFill>
                  <a:schemeClr val="tx2">
                    <a:lumMod val="50000"/>
                  </a:schemeClr>
                </a:solidFill>
              </a:rPr>
              <a:t>③ 年份区间户型分布（中左）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   堆叠柱状图：小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/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中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/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大户型占比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   数据源：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/</a:t>
            </a:r>
            <a:r>
              <a:rPr lang="en-US" altLang="zh-CN" sz="1200" b="0" dirty="0" err="1">
                <a:solidFill>
                  <a:schemeClr val="tx2">
                    <a:lumMod val="50000"/>
                  </a:schemeClr>
                </a:solidFill>
              </a:rPr>
              <a:t>data?table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=year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（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Spark 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离线分析）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endParaRPr lang="zh-CN" altLang="en-US" sz="1200" b="0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1" dirty="0">
                <a:solidFill>
                  <a:schemeClr val="tx2">
                    <a:lumMod val="50000"/>
                  </a:schemeClr>
                </a:solidFill>
              </a:rPr>
              <a:t>④ 小区房价 </a:t>
            </a:r>
            <a:r>
              <a:rPr lang="en-US" altLang="zh-CN" sz="1200" b="1" dirty="0">
                <a:solidFill>
                  <a:schemeClr val="tx2">
                    <a:lumMod val="50000"/>
                  </a:schemeClr>
                </a:solidFill>
              </a:rPr>
              <a:t>Top20</a:t>
            </a:r>
            <a:r>
              <a:rPr lang="zh-CN" altLang="en-US" sz="1200" b="1" dirty="0">
                <a:solidFill>
                  <a:schemeClr val="tx2">
                    <a:lumMod val="50000"/>
                  </a:schemeClr>
                </a:solidFill>
              </a:rPr>
              <a:t>（中右）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   横向柱状图：均价最高小区排行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   数据源：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/</a:t>
            </a:r>
            <a:r>
              <a:rPr lang="en-US" altLang="zh-CN" sz="1200" b="0" dirty="0" err="1">
                <a:solidFill>
                  <a:schemeClr val="tx2">
                    <a:lumMod val="50000"/>
                  </a:schemeClr>
                </a:solidFill>
              </a:rPr>
              <a:t>data?table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=community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（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Spark 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离线分析）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endParaRPr lang="zh-CN" altLang="en-US" sz="1200" b="0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1" dirty="0">
                <a:solidFill>
                  <a:schemeClr val="tx2">
                    <a:lumMod val="50000"/>
                  </a:schemeClr>
                </a:solidFill>
              </a:rPr>
              <a:t>⑤ 实时小区分析（底部全宽）🔴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   横向柱状图：海淀区 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90-144㎡ 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小区实时均价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   数据源：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/</a:t>
            </a:r>
            <a:r>
              <a:rPr lang="en-US" altLang="zh-CN" sz="1200" b="0" dirty="0" err="1">
                <a:solidFill>
                  <a:schemeClr val="tx2">
                    <a:lumMod val="50000"/>
                  </a:schemeClr>
                </a:solidFill>
              </a:rPr>
              <a:t>data?table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=certain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（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Kafka 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实时流）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   每 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3 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秒 </a:t>
            </a:r>
            <a:r>
              <a:rPr lang="en-US" altLang="zh-CN" sz="1200" b="0" dirty="0">
                <a:solidFill>
                  <a:schemeClr val="tx2">
                    <a:lumMod val="50000"/>
                  </a:schemeClr>
                </a:solidFill>
              </a:rPr>
              <a:t>AJAX </a:t>
            </a:r>
            <a:r>
              <a:rPr lang="zh-CN" altLang="en-US" sz="1200" b="0" dirty="0">
                <a:solidFill>
                  <a:schemeClr val="tx2">
                    <a:lumMod val="50000"/>
                  </a:schemeClr>
                </a:solidFill>
              </a:rPr>
              <a:t>轮询刷新</a:t>
            </a:r>
            <a:endParaRPr lang="zh-CN" alt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66DD4A-263B-DBC5-C807-F1551C52A5C0}"/>
              </a:ext>
            </a:extLst>
          </p:cNvPr>
          <p:cNvSpPr txBox="1"/>
          <p:nvPr/>
        </p:nvSpPr>
        <p:spPr>
          <a:xfrm>
            <a:off x="5576683" y="1131546"/>
            <a:ext cx="5435048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1" dirty="0">
                <a:solidFill>
                  <a:schemeClr val="tx2">
                    <a:lumMod val="50000"/>
                  </a:schemeClr>
                </a:solidFill>
              </a:rPr>
              <a:t>前端技术栈：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lang="en-US" altLang="zh-CN" sz="1400" b="0" dirty="0" err="1">
                <a:solidFill>
                  <a:schemeClr val="tx2">
                    <a:lumMod val="50000"/>
                  </a:schemeClr>
                </a:solidFill>
              </a:rPr>
              <a:t>ECharts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 5.4.3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（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CDN 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引入）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原生 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JavaScript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（无框架依赖）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• CSS Grid 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深色主题布局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• JSP 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动态路径：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&lt;%= </a:t>
            </a:r>
            <a:r>
              <a:rPr lang="en-US" altLang="zh-CN" sz="1400" b="0" dirty="0" err="1">
                <a:solidFill>
                  <a:schemeClr val="tx2">
                    <a:lumMod val="50000"/>
                  </a:schemeClr>
                </a:solidFill>
              </a:rPr>
              <a:t>request.getContextPath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() %&gt;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1" dirty="0">
                <a:solidFill>
                  <a:schemeClr val="tx2">
                    <a:lumMod val="50000"/>
                  </a:schemeClr>
                </a:solidFill>
              </a:rPr>
              <a:t>数据加载：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lang="en-US" altLang="zh-CN" sz="1400" b="0" dirty="0" err="1">
                <a:solidFill>
                  <a:schemeClr val="tx2">
                    <a:lumMod val="50000"/>
                  </a:schemeClr>
                </a:solidFill>
              </a:rPr>
              <a:t>fetchData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(table) → /</a:t>
            </a:r>
            <a:r>
              <a:rPr lang="en-US" altLang="zh-CN" sz="1400" b="0" dirty="0" err="1">
                <a:solidFill>
                  <a:schemeClr val="tx2">
                    <a:lumMod val="50000"/>
                  </a:schemeClr>
                </a:solidFill>
              </a:rPr>
              <a:t>data?table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=xxx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  • 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离线数据：页面加载时一次性获取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实时数据：</a:t>
            </a:r>
            <a:r>
              <a:rPr lang="en-US" altLang="zh-CN" sz="1400" b="0" dirty="0" err="1">
                <a:solidFill>
                  <a:schemeClr val="tx2">
                    <a:lumMod val="50000"/>
                  </a:schemeClr>
                </a:solidFill>
              </a:rPr>
              <a:t>setInterval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US" altLang="zh-CN" sz="1400" b="0" dirty="0" err="1">
                <a:solidFill>
                  <a:schemeClr val="tx2">
                    <a:lumMod val="50000"/>
                  </a:schemeClr>
                </a:solidFill>
              </a:rPr>
              <a:t>pollRealtime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, 3000)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1" dirty="0">
                <a:solidFill>
                  <a:schemeClr val="tx2">
                    <a:lumMod val="50000"/>
                  </a:schemeClr>
                </a:solidFill>
              </a:rPr>
              <a:t>深色主题设计：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背景色：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#0d1117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（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GitHub 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风格暗色）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lang="en-US" altLang="zh-CN" sz="1400" b="0" dirty="0" err="1">
                <a:solidFill>
                  <a:schemeClr val="tx2">
                    <a:lumMod val="50000"/>
                  </a:schemeClr>
                </a:solidFill>
              </a:rPr>
              <a:t>darkThemeOptions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() 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统一配置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渐变色柱状图 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+ 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圆角 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+ 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标签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1" dirty="0">
                <a:solidFill>
                  <a:schemeClr val="tx2">
                    <a:lumMod val="50000"/>
                  </a:schemeClr>
                </a:solidFill>
              </a:rPr>
              <a:t>响应式设计：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lang="en-US" altLang="zh-CN" sz="1400" b="0" dirty="0" err="1">
                <a:solidFill>
                  <a:schemeClr val="tx2">
                    <a:lumMod val="50000"/>
                  </a:schemeClr>
                </a:solidFill>
              </a:rPr>
              <a:t>window.resize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 → 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所有图表自适应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实时时钟更新（每秒刷新）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zh-CN" sz="1400" b="0" dirty="0">
                <a:solidFill>
                  <a:schemeClr val="tx2">
                    <a:lumMod val="50000"/>
                  </a:schemeClr>
                </a:solidFill>
              </a:rPr>
              <a:t>• LIVE </a:t>
            </a:r>
            <a:r>
              <a:rPr lang="zh-CN" altLang="en-US" sz="1400" b="0" dirty="0">
                <a:solidFill>
                  <a:schemeClr val="tx2">
                    <a:lumMod val="50000"/>
                  </a:schemeClr>
                </a:solidFill>
              </a:rPr>
              <a:t>动画指示器（实时面板）</a:t>
            </a:r>
            <a:endParaRPr lang="zh-CN" altLang="en-US" sz="14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170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1A092B-428A-463A-9C1E-2B4C632FAEFF}"/>
              </a:ext>
            </a:extLst>
          </p:cNvPr>
          <p:cNvSpPr/>
          <p:nvPr/>
        </p:nvSpPr>
        <p:spPr>
          <a:xfrm>
            <a:off x="3162227" y="2718977"/>
            <a:ext cx="5363969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  <a:endParaRPr lang="en-US" sz="88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296110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FFFFF"/>
      </a:accent3>
      <a:accent4>
        <a:srgbClr val="000000"/>
      </a:accent4>
      <a:accent5>
        <a:srgbClr val="AAB8DC"/>
      </a:accent5>
      <a:accent6>
        <a:srgbClr val="007B26"/>
      </a:accent6>
      <a:hlink>
        <a:srgbClr val="0000FF"/>
      </a:hlink>
      <a:folHlink>
        <a:srgbClr val="FF00FF"/>
      </a:folHlink>
    </a:clrScheme>
    <a:fontScheme name="White">
      <a:majorFont>
        <a:latin typeface="Lantinghei SC Heavy"/>
        <a:ea typeface="Lantinghei SC Heavy"/>
        <a:cs typeface="Lantinghei SC Heavy"/>
      </a:majorFont>
      <a:minorFont>
        <a:latin typeface="Helvetica Light"/>
        <a:ea typeface="Helvetica Light"/>
        <a:cs typeface="Helvetica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>
          <a:outerShdw blurRad="50800" dist="25400" dir="5400000" algn="ctr" rotWithShape="0">
            <a:srgbClr val="000000">
              <a:alpha val="50000"/>
            </a:srgbClr>
          </a:outerShdw>
        </a:effectLst>
      </a:spPr>
      <a:bodyPr vert="horz" wrap="square" lIns="71437" tIns="71437" rIns="71437" bIns="71437" numCol="1" anchor="ctr" anchorCtr="0" compatLnSpc="1">
        <a:prstTxWarp prst="textNoShape">
          <a:avLst/>
        </a:prstTxWarp>
        <a:spAutoFit/>
      </a:bodyPr>
      <a:lstStyle>
        <a:defPPr marL="0" marR="0" indent="0" algn="ctr" defTabSz="820738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5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Light" charset="0"/>
            <a:ea typeface="Helvetica Light" charset="0"/>
            <a:cs typeface="Helvetica Light" charset="0"/>
            <a:sym typeface="Helvetica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>
          <a:outerShdw blurRad="50800" dist="25400" dir="5400000" algn="ctr" rotWithShape="0">
            <a:srgbClr val="000000">
              <a:alpha val="50000"/>
            </a:srgbClr>
          </a:outerShdw>
        </a:effectLst>
      </a:spPr>
      <a:bodyPr vert="horz" wrap="square" lIns="71437" tIns="71437" rIns="71437" bIns="71437" numCol="1" anchor="ctr" anchorCtr="0" compatLnSpc="1">
        <a:prstTxWarp prst="textNoShape">
          <a:avLst/>
        </a:prstTxWarp>
        <a:spAutoFit/>
      </a:bodyPr>
      <a:lstStyle>
        <a:defPPr marL="0" marR="0" indent="0" algn="ctr" defTabSz="820738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5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Light" charset="0"/>
            <a:ea typeface="Helvetica Light" charset="0"/>
            <a:cs typeface="Helvetica Light" charset="0"/>
            <a:sym typeface="Helvetica Light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Big Data v2.potx" id="{9C375FE3-222F-4AF7-B617-B54A143379D0}" vid="{D6C00BBA-7528-4C11-9820-E5A600D7323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554</Words>
  <Application>Microsoft Office PowerPoint</Application>
  <PresentationFormat>宽屏</PresentationFormat>
  <Paragraphs>55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Helvetica Light</vt:lpstr>
      <vt:lpstr>Lantinghei SC Heavy</vt:lpstr>
      <vt:lpstr>SimSun</vt:lpstr>
      <vt:lpstr>Arial</vt:lpstr>
      <vt:lpstr>White</vt:lpstr>
      <vt:lpstr>数据库关系图</vt:lpstr>
      <vt:lpstr>功能展示截图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 Gaurav Pandey</dc:creator>
  <cp:lastModifiedBy>家政 陈</cp:lastModifiedBy>
  <cp:revision>125</cp:revision>
  <dcterms:created xsi:type="dcterms:W3CDTF">2018-12-12T03:00:50Z</dcterms:created>
  <dcterms:modified xsi:type="dcterms:W3CDTF">2026-06-30T16:18:46Z</dcterms:modified>
</cp:coreProperties>
</file>