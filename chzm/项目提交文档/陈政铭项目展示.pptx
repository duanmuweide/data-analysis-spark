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71" r:id="rId4"/>
    <p:sldId id="270" r:id="rId5"/>
    <p:sldId id="272" r:id="rId6"/>
    <p:sldId id="258" r:id="rId7"/>
    <p:sldId id="261" r:id="rId8"/>
    <p:sldId id="273" r:id="rId9"/>
    <p:sldId id="279" r:id="rId10"/>
    <p:sldId id="280" r:id="rId11"/>
    <p:sldId id="281" r:id="rId12"/>
    <p:sldId id="282" r:id="rId13"/>
    <p:sldId id="269" r:id="rId14"/>
    <p:sldId id="274" r:id="rId15"/>
    <p:sldId id="275" r:id="rId16"/>
    <p:sldId id="276" r:id="rId17"/>
    <p:sldId id="278" r:id="rId18"/>
    <p:sldId id="263" r:id="rId19"/>
    <p:sldId id="265" r:id="rId20"/>
    <p:sldId id="26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81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37887B19-F53D-4BD7-9222-3E7F0FAF0826}"/>
              </a:ext>
            </a:extLst>
          </p:cNvPr>
          <p:cNvSpPr>
            <a:spLocks/>
          </p:cNvSpPr>
          <p:nvPr userDrawn="1"/>
        </p:nvSpPr>
        <p:spPr bwMode="auto">
          <a:xfrm rot="859120" flipH="1">
            <a:off x="-1381342" y="-1207692"/>
            <a:ext cx="3371272" cy="8927307"/>
          </a:xfrm>
          <a:prstGeom prst="rect">
            <a:avLst/>
          </a:prstGeom>
          <a:gradFill rotWithShape="0">
            <a:gsLst>
              <a:gs pos="57000">
                <a:srgbClr val="549FF3"/>
              </a:gs>
              <a:gs pos="100000">
                <a:srgbClr val="3D36BA"/>
              </a:gs>
            </a:gsLst>
            <a:lin ang="5400000"/>
          </a:gra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599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3"/>
          </a:xfrm>
        </p:spPr>
        <p:txBody>
          <a:bodyPr/>
          <a:lstStyle>
            <a:lvl1pPr marL="0" indent="0" algn="r">
              <a:buNone/>
              <a:defRPr sz="28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C2E44-293D-4CE9-B437-38578EAF30C8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78D8BECF-B51D-4F69-A4D2-B460B91F3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4618"/>
            <a:ext cx="2659642" cy="132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4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95BF15-D72E-4E4E-91BA-005481991A52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56C3853D-7FF2-466F-ABFC-F4D315C345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9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0512B6-C6BE-4337-A445-D3A171D563C3}" type="slidenum">
              <a:rPr lang="zh-CN" altLang="zh-CN"/>
              <a:pPr/>
              <a:t>‹#›</a:t>
            </a:fld>
            <a:endParaRPr lang="zh-CN" altLang="zh-C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C337904-0B9E-4176-9C06-8DAC328C06DE}"/>
              </a:ext>
            </a:extLst>
          </p:cNvPr>
          <p:cNvSpPr>
            <a:spLocks/>
          </p:cNvSpPr>
          <p:nvPr userDrawn="1"/>
        </p:nvSpPr>
        <p:spPr bwMode="auto">
          <a:xfrm rot="859120" flipH="1">
            <a:off x="-1381342" y="-1207692"/>
            <a:ext cx="3371272" cy="8927307"/>
          </a:xfrm>
          <a:prstGeom prst="rect">
            <a:avLst/>
          </a:prstGeom>
          <a:gradFill rotWithShape="0">
            <a:gsLst>
              <a:gs pos="58000">
                <a:srgbClr val="549FF3"/>
              </a:gs>
              <a:gs pos="100000">
                <a:srgbClr val="3D36BA"/>
              </a:gs>
            </a:gsLst>
            <a:lin ang="5400000"/>
          </a:gra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861FDE1-7B29-4CA4-90DD-E06D26DC4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4618"/>
            <a:ext cx="2659642" cy="13298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719262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173967"/>
            <a:ext cx="10515600" cy="1915684"/>
          </a:xfrm>
        </p:spPr>
        <p:txBody>
          <a:bodyPr/>
          <a:lstStyle>
            <a:lvl1pPr marL="0" indent="0" algn="r">
              <a:buNone/>
              <a:defRPr sz="2800"/>
            </a:lvl1pPr>
            <a:lvl2pPr marL="228600" indent="0">
              <a:buNone/>
              <a:defRPr sz="1000"/>
            </a:lvl2pPr>
            <a:lvl3pPr marL="457200" indent="0">
              <a:buNone/>
              <a:defRPr sz="900"/>
            </a:lvl3pPr>
            <a:lvl4pPr marL="685800" indent="0">
              <a:buNone/>
              <a:defRPr sz="800"/>
            </a:lvl4pPr>
            <a:lvl5pPr marL="914400" indent="0">
              <a:buNone/>
              <a:defRPr sz="800"/>
            </a:lvl5pPr>
            <a:lvl6pPr marL="1143000" indent="0">
              <a:buNone/>
              <a:defRPr sz="800"/>
            </a:lvl6pPr>
            <a:lvl7pPr marL="1371600" indent="0">
              <a:buNone/>
              <a:defRPr sz="800"/>
            </a:lvl7pPr>
            <a:lvl8pPr marL="1600200" indent="0">
              <a:buNone/>
              <a:defRPr sz="800"/>
            </a:lvl8pPr>
            <a:lvl9pPr marL="1828800" indent="0">
              <a:buNone/>
              <a:defRPr sz="8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74548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30519" y="607218"/>
            <a:ext cx="7804944" cy="1106562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39965" y="1830388"/>
            <a:ext cx="3863975" cy="4420394"/>
          </a:xfrm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33306" y="1830388"/>
            <a:ext cx="3864769" cy="4420394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575B06-9A48-44CB-BF22-441D24A07EA7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DBF766B-A79A-47E3-A8A4-F20D3785D3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580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078301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7" y="1681163"/>
            <a:ext cx="5157788" cy="82391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7" y="2505075"/>
            <a:ext cx="51577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3"/>
          </a:xfrm>
        </p:spPr>
        <p:txBody>
          <a:bodyPr anchor="b"/>
          <a:lstStyle>
            <a:lvl1pPr marL="0" indent="0">
              <a:buNone/>
              <a:defRPr lang="en-US" altLang="zh-CN" sz="2400" b="1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Light" charset="0"/>
              </a:defRPr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296D34-F81A-46A2-8AD8-39966004D08F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15D48B74-1623-4CF1-A84F-46B2BC73C6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90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78D55F-A373-42D5-A264-B8E1D501BFC5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6AD8A316-5B60-4558-8ABF-CD2AA4BBB5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8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594138-9B44-4804-8A89-1E9C8739BAC6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5FB88157-DD58-478C-AE64-6676DEBA1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04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04633"/>
            <a:ext cx="3932238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04833"/>
            <a:ext cx="3932238" cy="3811588"/>
          </a:xfrm>
        </p:spPr>
        <p:txBody>
          <a:bodyPr/>
          <a:lstStyle>
            <a:lvl1pPr marL="0" indent="0">
              <a:buNone/>
              <a:defRPr sz="24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E2E900-EAB6-4B71-8F4C-9F49C009F645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3B617167-14B9-4E1B-8626-65F9446BE7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58418"/>
            <a:ext cx="3932238" cy="1600200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pPr lvl="0"/>
            <a:endParaRPr lang="zh-CN" altLang="en-US" noProof="0">
              <a:sym typeface="Helvetica Light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58618"/>
            <a:ext cx="3932238" cy="3811588"/>
          </a:xfrm>
        </p:spPr>
        <p:txBody>
          <a:bodyPr/>
          <a:lstStyle>
            <a:lvl1pPr marL="0" indent="0">
              <a:buNone/>
              <a:defRPr sz="24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5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7794E7-4E28-4501-8019-5566C2C2BC83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D88C70D-6027-48FC-86EC-5C3A896408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792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35C023-FE34-4344-A130-C228BB7E7256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4434A424-850E-4718-B7E9-624FA5B96A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6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47038" y="1830388"/>
            <a:ext cx="1951038" cy="4420394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132" y="1830388"/>
            <a:ext cx="5777706" cy="4420394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6"/>
          <p:cNvSpPr>
            <a:spLocks noGrp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3F4BDC-C434-4A9D-BBDF-64FA4D5C18DB}" type="slidenum">
              <a:rPr lang="zh-CN" altLang="zh-CN"/>
              <a:pPr/>
              <a:t>‹#›</a:t>
            </a:fld>
            <a:endParaRPr lang="zh-CN" altLang="zh-CN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DDCCB80E-6BD6-4CD7-A264-A5A956D4DD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669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&#10;&#10;Description automatically generated">
            <a:extLst>
              <a:ext uri="{FF2B5EF4-FFF2-40B4-BE49-F238E27FC236}">
                <a16:creationId xmlns:a16="http://schemas.microsoft.com/office/drawing/2014/main" id="{5FCCA335-7914-4FD9-8F58-7115715F6B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" y="106372"/>
            <a:ext cx="1705068" cy="852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16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2193132" y="958906"/>
            <a:ext cx="7804944" cy="1518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1437" tIns="71437" rIns="71437" bIns="714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>
                <a:sym typeface="Lantinghei SC Heavy" charset="0"/>
              </a:rPr>
              <a:t>Click to edit Master title style</a:t>
            </a:r>
          </a:p>
        </p:txBody>
      </p:sp>
      <p:pic>
        <p:nvPicPr>
          <p:cNvPr id="1027" name="Picture 2" descr="资源 1@4x.p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70270" flipH="1">
            <a:off x="5971382" y="-2408238"/>
            <a:ext cx="7548563" cy="722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9804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8" name="Picture 3" descr="pasted-image.pdf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0157" y="297656"/>
            <a:ext cx="1800225" cy="356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4"/>
          <p:cNvSpPr>
            <a:spLocks/>
          </p:cNvSpPr>
          <p:nvPr/>
        </p:nvSpPr>
        <p:spPr bwMode="auto">
          <a:xfrm>
            <a:off x="12063413" y="230188"/>
            <a:ext cx="234157" cy="453232"/>
          </a:xfrm>
          <a:prstGeom prst="rect">
            <a:avLst/>
          </a:prstGeom>
          <a:solidFill>
            <a:srgbClr val="081BA5"/>
          </a:solidFill>
          <a:ln>
            <a:noFill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</a:extLst>
        </p:spPr>
        <p:txBody>
          <a:bodyPr lIns="35719" tIns="35719" rIns="35719" bIns="35719" anchor="ctr"/>
          <a:lstStyle>
            <a:lvl1pPr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1pPr>
            <a:lvl2pPr marL="742950" indent="-28575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2pPr>
            <a:lvl3pPr marL="11430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3pPr>
            <a:lvl4pPr marL="16002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4pPr>
            <a:lvl5pPr marL="2057400" indent="-228600"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5pPr>
            <a:lvl6pPr marL="25146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6pPr>
            <a:lvl7pPr marL="29718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7pPr>
            <a:lvl8pPr marL="34290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8pPr>
            <a:lvl9pPr marL="3886200" indent="-228600" defTabSz="820738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rgbClr val="000000"/>
                </a:solidFill>
                <a:latin typeface="Helvetica Light" charset="0"/>
                <a:ea typeface="Helvetica Light" charset="0"/>
                <a:cs typeface="Helvetica Light" charset="0"/>
                <a:sym typeface="Helvetica Light" charset="0"/>
              </a:defRPr>
            </a:lvl9pPr>
          </a:lstStyle>
          <a:p>
            <a:pPr algn="ctr" eaLnBrk="1"/>
            <a:endParaRPr lang="zh-CN" altLang="zh-CN" sz="1600">
              <a:solidFill>
                <a:srgbClr val="FFFFFF"/>
              </a:solidFill>
              <a:ea typeface="SimSun" panose="02010600030101010101" pitchFamily="2" charset="-122"/>
            </a:endParaRPr>
          </a:p>
        </p:txBody>
      </p:sp>
      <p:sp>
        <p:nvSpPr>
          <p:cNvPr id="1030" name="Rectangle 5"/>
          <p:cNvSpPr>
            <a:spLocks noGrp="1"/>
          </p:cNvSpPr>
          <p:nvPr>
            <p:ph type="body" idx="1"/>
          </p:nvPr>
        </p:nvSpPr>
        <p:spPr bwMode="auto">
          <a:xfrm>
            <a:off x="2193132" y="2594181"/>
            <a:ext cx="7804944" cy="403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71437" tIns="71437" rIns="71437" bIns="714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dirty="0">
                <a:sym typeface="Helvetica Light" charset="0"/>
              </a:rPr>
              <a:t>Click to edit Master text styles</a:t>
            </a:r>
          </a:p>
          <a:p>
            <a:pPr lvl="1"/>
            <a:r>
              <a:rPr lang="zh-CN" altLang="zh-CN" dirty="0">
                <a:sym typeface="Helvetica Light" charset="0"/>
              </a:rPr>
              <a:t>Second level</a:t>
            </a:r>
          </a:p>
          <a:p>
            <a:pPr lvl="2"/>
            <a:r>
              <a:rPr lang="zh-CN" altLang="zh-CN" dirty="0">
                <a:sym typeface="Helvetica Light" charset="0"/>
              </a:rPr>
              <a:t>Third level</a:t>
            </a:r>
          </a:p>
          <a:p>
            <a:pPr lvl="3"/>
            <a:r>
              <a:rPr lang="zh-CN" altLang="zh-CN" dirty="0">
                <a:sym typeface="Helvetica Light" charset="0"/>
              </a:rPr>
              <a:t>Fourth level</a:t>
            </a:r>
          </a:p>
          <a:p>
            <a:pPr lvl="4"/>
            <a:r>
              <a:rPr lang="zh-CN" altLang="zh-CN" dirty="0">
                <a:sym typeface="Helvetica Light" charset="0"/>
              </a:rPr>
              <a:t>Fifth level</a:t>
            </a:r>
          </a:p>
        </p:txBody>
      </p:sp>
      <p:sp>
        <p:nvSpPr>
          <p:cNvPr id="3" name="Rectangle 6"/>
          <p:cNvSpPr>
            <a:spLocks noGrp="1"/>
          </p:cNvSpPr>
          <p:nvPr>
            <p:ph type="sldNum" sz="quarter" idx="2"/>
          </p:nvPr>
        </p:nvSpPr>
        <p:spPr bwMode="auto">
          <a:xfrm>
            <a:off x="5967413" y="6504782"/>
            <a:ext cx="247650" cy="255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71437" tIns="71437" rIns="71437" bIns="71437" numCol="1" anchor="t" anchorCtr="0" compatLnSpc="1">
            <a:prstTxWarp prst="textNoShape">
              <a:avLst/>
            </a:prstTxWarp>
          </a:bodyPr>
          <a:lstStyle>
            <a:lvl1pPr algn="ctr" eaLnBrk="1">
              <a:defRPr sz="1200">
                <a:ea typeface="SimSun" panose="02010600030101010101" pitchFamily="2" charset="-122"/>
              </a:defRPr>
            </a:lvl1pPr>
          </a:lstStyle>
          <a:p>
            <a:fld id="{4A3DB189-EA9E-4FF3-A80F-706F2B8DAECD}" type="slidenum">
              <a:rPr lang="zh-CN" altLang="zh-CN"/>
              <a:pPr/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6419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410369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000000"/>
          </a:solidFill>
          <a:latin typeface="+mj-lt"/>
          <a:ea typeface="+mj-ea"/>
          <a:cs typeface="+mj-cs"/>
          <a:sym typeface="Lantinghei SC Heavy" charset="0"/>
        </a:defRPr>
      </a:lvl1pPr>
      <a:lvl2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2pPr>
      <a:lvl3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3pPr>
      <a:lvl4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4pPr>
      <a:lvl5pPr algn="ctr" defTabSz="410369" rtl="0" eaLnBrk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5pPr>
      <a:lvl6pPr marL="2286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6pPr>
      <a:lvl7pPr marL="4572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7pPr>
      <a:lvl8pPr marL="6858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8pPr>
      <a:lvl9pPr marL="914400" algn="ctr" defTabSz="410369" rtl="0" fontAlgn="base" hangingPunct="0">
        <a:spcBef>
          <a:spcPct val="0"/>
        </a:spcBef>
        <a:spcAft>
          <a:spcPct val="0"/>
        </a:spcAft>
        <a:defRPr sz="4000">
          <a:solidFill>
            <a:srgbClr val="000000"/>
          </a:solidFill>
          <a:latin typeface="Lantinghei SC Heavy" charset="0"/>
          <a:ea typeface="Lantinghei SC Heavy" charset="0"/>
          <a:cs typeface="Lantinghei SC Heavy" charset="0"/>
          <a:sym typeface="Lantinghei SC Heavy" charset="0"/>
        </a:defRPr>
      </a:lvl9pPr>
    </p:titleStyle>
    <p:bodyStyle>
      <a:lvl1pPr marL="3079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1pPr>
      <a:lvl2pPr marL="53022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2pPr>
      <a:lvl3pPr marL="7524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3pPr>
      <a:lvl4pPr marL="97472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4pPr>
      <a:lvl5pPr marL="1196975" indent="-307975" algn="l" defTabSz="410369" rtl="0" eaLnBrk="0" fontAlgn="base" hangingPunct="0">
        <a:spcBef>
          <a:spcPts val="2950"/>
        </a:spcBef>
        <a:spcAft>
          <a:spcPct val="0"/>
        </a:spcAft>
        <a:buSzPct val="75000"/>
        <a:buChar char="•"/>
        <a:defRPr sz="2500" kern="1200">
          <a:solidFill>
            <a:srgbClr val="000000"/>
          </a:solidFill>
          <a:latin typeface="+mn-lt"/>
          <a:ea typeface="+mn-ea"/>
          <a:cs typeface="+mn-cs"/>
          <a:sym typeface="Helvetica Light" charset="0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EA8507-ED4E-4215-02C9-D01C54C179D2}"/>
              </a:ext>
            </a:extLst>
          </p:cNvPr>
          <p:cNvSpPr txBox="1"/>
          <p:nvPr/>
        </p:nvSpPr>
        <p:spPr>
          <a:xfrm>
            <a:off x="1082352" y="1026362"/>
            <a:ext cx="2444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开发人员：陈政铭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E2F747-D3E9-95B7-ABF3-42B557139282}"/>
              </a:ext>
            </a:extLst>
          </p:cNvPr>
          <p:cNvSpPr txBox="1"/>
          <p:nvPr/>
        </p:nvSpPr>
        <p:spPr>
          <a:xfrm>
            <a:off x="1082352" y="1604859"/>
            <a:ext cx="302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开发项目：电商数据分析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D6E987-3DCD-DE6B-117C-03AD5858F630}"/>
              </a:ext>
            </a:extLst>
          </p:cNvPr>
          <p:cNvSpPr txBox="1"/>
          <p:nvPr/>
        </p:nvSpPr>
        <p:spPr>
          <a:xfrm>
            <a:off x="1082352" y="2183356"/>
            <a:ext cx="858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使用技术：大数据分析采用</a:t>
            </a:r>
            <a:r>
              <a:rPr lang="en-US" altLang="zh-CN" b="1" dirty="0" err="1">
                <a:solidFill>
                  <a:srgbClr val="FF0000"/>
                </a:solidFill>
              </a:rPr>
              <a:t>spark+kafka</a:t>
            </a:r>
            <a:r>
              <a:rPr lang="zh-CN" altLang="en-US" b="1" dirty="0">
                <a:solidFill>
                  <a:srgbClr val="FF0000"/>
                </a:solidFill>
              </a:rPr>
              <a:t>，</a:t>
            </a:r>
            <a:r>
              <a:rPr lang="en-US" altLang="zh-CN" dirty="0"/>
              <a:t>web</a:t>
            </a:r>
            <a:r>
              <a:rPr lang="zh-CN" altLang="en-US" dirty="0"/>
              <a:t>项目设计采用</a:t>
            </a:r>
            <a:r>
              <a:rPr lang="en-US" altLang="zh-CN" b="1" dirty="0">
                <a:solidFill>
                  <a:srgbClr val="FF0000"/>
                </a:solidFill>
              </a:rPr>
              <a:t>flask</a:t>
            </a:r>
            <a:r>
              <a:rPr lang="zh-CN" altLang="en-US" b="1" dirty="0"/>
              <a:t>后端</a:t>
            </a:r>
            <a:r>
              <a:rPr lang="en-US" altLang="zh-CN" b="1" dirty="0"/>
              <a:t>+</a:t>
            </a:r>
            <a:r>
              <a:rPr lang="en-US" altLang="zh-CN" b="1" dirty="0" err="1">
                <a:solidFill>
                  <a:srgbClr val="FF0000"/>
                </a:solidFill>
              </a:rPr>
              <a:t>echarts</a:t>
            </a:r>
            <a:r>
              <a:rPr lang="zh-CN" altLang="en-US" b="1" dirty="0"/>
              <a:t>前端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389A71-5741-4906-9251-6EFD65DCA7C9}"/>
              </a:ext>
            </a:extLst>
          </p:cNvPr>
          <p:cNvSpPr txBox="1"/>
          <p:nvPr/>
        </p:nvSpPr>
        <p:spPr>
          <a:xfrm>
            <a:off x="4775719" y="392135"/>
            <a:ext cx="2640562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项目结构总览</a:t>
            </a:r>
          </a:p>
        </p:txBody>
      </p:sp>
      <p:sp>
        <p:nvSpPr>
          <p:cNvPr id="21" name="流程图: 卡片 20">
            <a:extLst>
              <a:ext uri="{FF2B5EF4-FFF2-40B4-BE49-F238E27FC236}">
                <a16:creationId xmlns:a16="http://schemas.microsoft.com/office/drawing/2014/main" id="{7C2D6B80-DE04-CE53-49C8-F5D87ADDCE46}"/>
              </a:ext>
            </a:extLst>
          </p:cNvPr>
          <p:cNvSpPr/>
          <p:nvPr/>
        </p:nvSpPr>
        <p:spPr bwMode="auto">
          <a:xfrm>
            <a:off x="1082352" y="2911151"/>
            <a:ext cx="839754" cy="1026367"/>
          </a:xfrm>
          <a:prstGeom prst="flowChartPunchedCard">
            <a:avLst/>
          </a:prstGeom>
          <a:solidFill>
            <a:srgbClr val="FFCC99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2A783A5-5ABE-06AC-A44E-73C5BB27E578}"/>
              </a:ext>
            </a:extLst>
          </p:cNvPr>
          <p:cNvSpPr txBox="1"/>
          <p:nvPr/>
        </p:nvSpPr>
        <p:spPr>
          <a:xfrm>
            <a:off x="1082352" y="3239668"/>
            <a:ext cx="111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数据集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6C6D1ADD-CF55-E7E6-A73B-7A94EE859F37}"/>
              </a:ext>
            </a:extLst>
          </p:cNvPr>
          <p:cNvCxnSpPr>
            <a:cxnSpLocks/>
            <a:endCxn id="26" idx="2"/>
          </p:cNvCxnSpPr>
          <p:nvPr/>
        </p:nvCxnSpPr>
        <p:spPr bwMode="auto">
          <a:xfrm>
            <a:off x="1912776" y="3424334"/>
            <a:ext cx="1315617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6" name="圆柱体 25">
            <a:extLst>
              <a:ext uri="{FF2B5EF4-FFF2-40B4-BE49-F238E27FC236}">
                <a16:creationId xmlns:a16="http://schemas.microsoft.com/office/drawing/2014/main" id="{DDE83AB5-BD0D-B787-BBE2-51402A7F76D4}"/>
              </a:ext>
            </a:extLst>
          </p:cNvPr>
          <p:cNvSpPr/>
          <p:nvPr/>
        </p:nvSpPr>
        <p:spPr bwMode="auto">
          <a:xfrm>
            <a:off x="3228393" y="2911151"/>
            <a:ext cx="774441" cy="1026366"/>
          </a:xfrm>
          <a:prstGeom prst="can">
            <a:avLst/>
          </a:pr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3163BB-50ED-2B75-8751-FC704C14CE0D}"/>
              </a:ext>
            </a:extLst>
          </p:cNvPr>
          <p:cNvSpPr txBox="1"/>
          <p:nvPr/>
        </p:nvSpPr>
        <p:spPr>
          <a:xfrm>
            <a:off x="3256385" y="3274196"/>
            <a:ext cx="839754" cy="377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HDFS</a:t>
            </a:r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5129A83-FC54-0867-D165-DAC4987C8E5B}"/>
              </a:ext>
            </a:extLst>
          </p:cNvPr>
          <p:cNvCxnSpPr>
            <a:cxnSpLocks/>
          </p:cNvCxnSpPr>
          <p:nvPr/>
        </p:nvCxnSpPr>
        <p:spPr bwMode="auto">
          <a:xfrm>
            <a:off x="4002834" y="3418113"/>
            <a:ext cx="1315617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9D587A8B-F22F-48A4-5398-F5EAC2EDC450}"/>
              </a:ext>
            </a:extLst>
          </p:cNvPr>
          <p:cNvSpPr/>
          <p:nvPr/>
        </p:nvSpPr>
        <p:spPr bwMode="auto">
          <a:xfrm>
            <a:off x="5318451" y="2972145"/>
            <a:ext cx="1726161" cy="913711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8DCBE53-FE84-ADC9-81C9-26F89020C402}"/>
              </a:ext>
            </a:extLst>
          </p:cNvPr>
          <p:cNvSpPr txBox="1"/>
          <p:nvPr/>
        </p:nvSpPr>
        <p:spPr>
          <a:xfrm>
            <a:off x="5346444" y="3233447"/>
            <a:ext cx="1726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Spark on YARN</a:t>
            </a:r>
            <a:endParaRPr lang="zh-CN" altLang="en-US" dirty="0"/>
          </a:p>
        </p:txBody>
      </p:sp>
      <p:sp>
        <p:nvSpPr>
          <p:cNvPr id="36" name="圆柱体 35">
            <a:extLst>
              <a:ext uri="{FF2B5EF4-FFF2-40B4-BE49-F238E27FC236}">
                <a16:creationId xmlns:a16="http://schemas.microsoft.com/office/drawing/2014/main" id="{63C916D5-4BDE-CDC1-E0EB-9A9CB2670DB6}"/>
              </a:ext>
            </a:extLst>
          </p:cNvPr>
          <p:cNvSpPr/>
          <p:nvPr/>
        </p:nvSpPr>
        <p:spPr bwMode="auto">
          <a:xfrm>
            <a:off x="7883976" y="4305313"/>
            <a:ext cx="774441" cy="1026366"/>
          </a:xfrm>
          <a:prstGeom prst="can">
            <a:avLst/>
          </a:pr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A3699F7-40DC-D5D1-D710-A00BCA397520}"/>
              </a:ext>
            </a:extLst>
          </p:cNvPr>
          <p:cNvSpPr txBox="1"/>
          <p:nvPr/>
        </p:nvSpPr>
        <p:spPr>
          <a:xfrm>
            <a:off x="7883976" y="4633830"/>
            <a:ext cx="114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mysql</a:t>
            </a:r>
            <a:endParaRPr lang="zh-CN" altLang="en-US" dirty="0"/>
          </a:p>
        </p:txBody>
      </p: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A3280373-A1E4-B84B-7BE0-B2E3B82B37C5}"/>
              </a:ext>
            </a:extLst>
          </p:cNvPr>
          <p:cNvCxnSpPr>
            <a:cxnSpLocks/>
          </p:cNvCxnSpPr>
          <p:nvPr/>
        </p:nvCxnSpPr>
        <p:spPr bwMode="auto">
          <a:xfrm>
            <a:off x="7053553" y="3418113"/>
            <a:ext cx="1217644" cy="887200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4083CDFB-3080-EB0D-DA88-13786894515F}"/>
              </a:ext>
            </a:extLst>
          </p:cNvPr>
          <p:cNvSpPr/>
          <p:nvPr/>
        </p:nvSpPr>
        <p:spPr bwMode="auto">
          <a:xfrm>
            <a:off x="10141985" y="4244664"/>
            <a:ext cx="1147666" cy="1184988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DC81933-DA2F-2D32-1057-C4B020158E84}"/>
              </a:ext>
            </a:extLst>
          </p:cNvPr>
          <p:cNvSpPr txBox="1"/>
          <p:nvPr/>
        </p:nvSpPr>
        <p:spPr>
          <a:xfrm>
            <a:off x="10160647" y="4633830"/>
            <a:ext cx="114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Web</a:t>
            </a:r>
            <a:r>
              <a:rPr lang="zh-CN" altLang="en-US" dirty="0"/>
              <a:t>展示</a:t>
            </a: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0CAF4C44-9A44-0F44-1F4A-BB82174B19BA}"/>
              </a:ext>
            </a:extLst>
          </p:cNvPr>
          <p:cNvCxnSpPr>
            <a:cxnSpLocks/>
          </p:cNvCxnSpPr>
          <p:nvPr/>
        </p:nvCxnSpPr>
        <p:spPr bwMode="auto">
          <a:xfrm>
            <a:off x="8658417" y="4818496"/>
            <a:ext cx="1483568" cy="1323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60" name="流程图: 卡片 59">
            <a:extLst>
              <a:ext uri="{FF2B5EF4-FFF2-40B4-BE49-F238E27FC236}">
                <a16:creationId xmlns:a16="http://schemas.microsoft.com/office/drawing/2014/main" id="{6673B495-29EB-1258-8EB0-5A397F06F542}"/>
              </a:ext>
            </a:extLst>
          </p:cNvPr>
          <p:cNvSpPr/>
          <p:nvPr/>
        </p:nvSpPr>
        <p:spPr bwMode="auto">
          <a:xfrm>
            <a:off x="1073022" y="5149526"/>
            <a:ext cx="839754" cy="1026367"/>
          </a:xfrm>
          <a:prstGeom prst="flowChartPunchedCard">
            <a:avLst/>
          </a:prstGeom>
          <a:solidFill>
            <a:srgbClr val="FFCC99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250FDC00-C236-A25D-484F-67CDA933A931}"/>
              </a:ext>
            </a:extLst>
          </p:cNvPr>
          <p:cNvSpPr txBox="1"/>
          <p:nvPr/>
        </p:nvSpPr>
        <p:spPr>
          <a:xfrm>
            <a:off x="1073023" y="5249087"/>
            <a:ext cx="927228" cy="92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</a:t>
            </a:r>
            <a:r>
              <a:rPr lang="zh-CN" altLang="en-US" dirty="0"/>
              <a:t>结构化数据</a:t>
            </a:r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88313E38-4537-984B-9047-760345B365B1}"/>
              </a:ext>
            </a:extLst>
          </p:cNvPr>
          <p:cNvCxnSpPr>
            <a:cxnSpLocks/>
            <a:endCxn id="66" idx="1"/>
          </p:cNvCxnSpPr>
          <p:nvPr/>
        </p:nvCxnSpPr>
        <p:spPr bwMode="auto">
          <a:xfrm flipV="1">
            <a:off x="1906563" y="5705941"/>
            <a:ext cx="1310953" cy="654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65" name="文本框 64">
            <a:extLst>
              <a:ext uri="{FF2B5EF4-FFF2-40B4-BE49-F238E27FC236}">
                <a16:creationId xmlns:a16="http://schemas.microsoft.com/office/drawing/2014/main" id="{F71684C3-BECB-FF89-BE90-82878B162D13}"/>
              </a:ext>
            </a:extLst>
          </p:cNvPr>
          <p:cNvSpPr txBox="1"/>
          <p:nvPr/>
        </p:nvSpPr>
        <p:spPr>
          <a:xfrm>
            <a:off x="1892366" y="5728023"/>
            <a:ext cx="1830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Py</a:t>
            </a:r>
            <a:r>
              <a:rPr lang="zh-CN" altLang="en-US" sz="1000" dirty="0"/>
              <a:t>脚本模拟实时发送</a:t>
            </a:r>
            <a:endParaRPr lang="en-US" altLang="zh-CN" sz="1000" dirty="0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3C74A422-8071-11FE-9121-3759367C6BE3}"/>
              </a:ext>
            </a:extLst>
          </p:cNvPr>
          <p:cNvSpPr/>
          <p:nvPr/>
        </p:nvSpPr>
        <p:spPr bwMode="auto">
          <a:xfrm>
            <a:off x="3217516" y="5249085"/>
            <a:ext cx="1074966" cy="913711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F6BCB25A-ECE6-6B29-E27C-4D00BFB2CE30}"/>
              </a:ext>
            </a:extLst>
          </p:cNvPr>
          <p:cNvSpPr txBox="1"/>
          <p:nvPr/>
        </p:nvSpPr>
        <p:spPr>
          <a:xfrm>
            <a:off x="3381285" y="5521070"/>
            <a:ext cx="8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kafka</a:t>
            </a:r>
            <a:endParaRPr lang="zh-CN" altLang="en-US" dirty="0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F5147181-E48D-29AF-53A5-CB70D97AB15C}"/>
              </a:ext>
            </a:extLst>
          </p:cNvPr>
          <p:cNvCxnSpPr>
            <a:cxnSpLocks/>
          </p:cNvCxnSpPr>
          <p:nvPr/>
        </p:nvCxnSpPr>
        <p:spPr bwMode="auto">
          <a:xfrm>
            <a:off x="4292482" y="5705736"/>
            <a:ext cx="938289" cy="6752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9EA4EE99-5B54-9114-7BB5-48937A8D2643}"/>
              </a:ext>
            </a:extLst>
          </p:cNvPr>
          <p:cNvSpPr/>
          <p:nvPr/>
        </p:nvSpPr>
        <p:spPr bwMode="auto">
          <a:xfrm>
            <a:off x="5235070" y="5255632"/>
            <a:ext cx="1726161" cy="913711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5566E829-E78F-129F-973A-8851E4FF1AB9}"/>
              </a:ext>
            </a:extLst>
          </p:cNvPr>
          <p:cNvSpPr txBox="1"/>
          <p:nvPr/>
        </p:nvSpPr>
        <p:spPr>
          <a:xfrm>
            <a:off x="5195014" y="5521070"/>
            <a:ext cx="1973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Spark Streaming</a:t>
            </a:r>
            <a:endParaRPr lang="zh-CN" altLang="en-US" dirty="0"/>
          </a:p>
        </p:txBody>
      </p: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70059E41-23D4-2F61-2C43-203436CB2725}"/>
              </a:ext>
            </a:extLst>
          </p:cNvPr>
          <p:cNvCxnSpPr>
            <a:endCxn id="36" idx="3"/>
          </p:cNvCxnSpPr>
          <p:nvPr/>
        </p:nvCxnSpPr>
        <p:spPr bwMode="auto">
          <a:xfrm flipV="1">
            <a:off x="6961231" y="5331679"/>
            <a:ext cx="1309966" cy="380808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803DB5E-94D7-0432-89F6-AA2F56DD39F3}"/>
              </a:ext>
            </a:extLst>
          </p:cNvPr>
          <p:cNvSpPr txBox="1"/>
          <p:nvPr/>
        </p:nvSpPr>
        <p:spPr>
          <a:xfrm>
            <a:off x="9852737" y="3757693"/>
            <a:ext cx="1726161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 err="1"/>
              <a:t>Flask+Echarts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48888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242FB7A-0CC0-61EA-C4E1-3540FBD786BE}"/>
              </a:ext>
            </a:extLst>
          </p:cNvPr>
          <p:cNvSpPr txBox="1"/>
          <p:nvPr/>
        </p:nvSpPr>
        <p:spPr>
          <a:xfrm>
            <a:off x="2523738" y="1962149"/>
            <a:ext cx="2371725" cy="1938992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 </a:t>
            </a:r>
            <a:r>
              <a:rPr lang="zh-CN" altLang="en-US" sz="2000" dirty="0"/>
              <a:t>销售趋势总览</a:t>
            </a:r>
          </a:p>
          <a:p>
            <a:r>
              <a:rPr lang="en-US" altLang="zh-CN" sz="2000" dirty="0"/>
              <a:t>2. </a:t>
            </a:r>
            <a:r>
              <a:rPr lang="zh-CN" altLang="en-US" sz="2000" dirty="0"/>
              <a:t>品类销售排行</a:t>
            </a:r>
          </a:p>
          <a:p>
            <a:r>
              <a:rPr lang="en-US" altLang="zh-CN" sz="2000" dirty="0"/>
              <a:t>3. </a:t>
            </a:r>
            <a:r>
              <a:rPr lang="zh-CN" altLang="en-US" sz="2000" dirty="0"/>
              <a:t>用户价值分层</a:t>
            </a:r>
          </a:p>
          <a:p>
            <a:r>
              <a:rPr lang="en-US" altLang="zh-CN" sz="2000" dirty="0"/>
              <a:t>4. </a:t>
            </a:r>
            <a:r>
              <a:rPr lang="zh-CN" altLang="en-US" sz="2000" dirty="0"/>
              <a:t>品类关联规则</a:t>
            </a:r>
          </a:p>
          <a:p>
            <a:r>
              <a:rPr lang="en-US" altLang="zh-CN" sz="2000" dirty="0"/>
              <a:t>5. </a:t>
            </a:r>
            <a:r>
              <a:rPr lang="zh-CN" altLang="en-US" sz="2000" dirty="0"/>
              <a:t>实时品类窗口销售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3A7EBF-6272-FC78-1296-1F604DACAD14}"/>
              </a:ext>
            </a:extLst>
          </p:cNvPr>
          <p:cNvSpPr txBox="1"/>
          <p:nvPr/>
        </p:nvSpPr>
        <p:spPr>
          <a:xfrm>
            <a:off x="2780914" y="1556266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五种查询意义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4EC441-389A-B09B-B0AD-ACCA5F74A478}"/>
              </a:ext>
            </a:extLst>
          </p:cNvPr>
          <p:cNvSpPr txBox="1"/>
          <p:nvPr/>
        </p:nvSpPr>
        <p:spPr>
          <a:xfrm>
            <a:off x="7229085" y="1556266"/>
            <a:ext cx="1628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原始数据意义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EEDDE27-1F3E-A6CE-0C51-A001C565F118}"/>
              </a:ext>
            </a:extLst>
          </p:cNvPr>
          <p:cNvSpPr txBox="1"/>
          <p:nvPr/>
        </p:nvSpPr>
        <p:spPr>
          <a:xfrm>
            <a:off x="6724259" y="1962148"/>
            <a:ext cx="2771780" cy="1938992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 users.csv</a:t>
            </a:r>
            <a:endParaRPr lang="zh-CN" altLang="en-US" sz="2400" dirty="0"/>
          </a:p>
          <a:p>
            <a:r>
              <a:rPr lang="en-US" altLang="zh-CN" sz="2400" dirty="0"/>
              <a:t>2. products.csv</a:t>
            </a:r>
            <a:endParaRPr lang="zh-CN" altLang="en-US" sz="2400" dirty="0"/>
          </a:p>
          <a:p>
            <a:r>
              <a:rPr lang="en-US" altLang="zh-CN" sz="2400" dirty="0"/>
              <a:t>3. orders.csv</a:t>
            </a:r>
            <a:endParaRPr lang="zh-CN" altLang="en-US" sz="2400" dirty="0"/>
          </a:p>
          <a:p>
            <a:r>
              <a:rPr lang="en-US" altLang="zh-CN" sz="2400" dirty="0"/>
              <a:t>4. order_items.csv</a:t>
            </a:r>
            <a:endParaRPr lang="zh-CN" altLang="en-US" sz="2400" dirty="0"/>
          </a:p>
          <a:p>
            <a:r>
              <a:rPr lang="en-US" altLang="zh-CN" sz="2400" dirty="0"/>
              <a:t>5.order_events.json</a:t>
            </a:r>
            <a:endParaRPr lang="zh-CN" altLang="en-US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D4715DC-4222-2FC6-7989-060C877D87A6}"/>
              </a:ext>
            </a:extLst>
          </p:cNvPr>
          <p:cNvSpPr txBox="1"/>
          <p:nvPr/>
        </p:nvSpPr>
        <p:spPr>
          <a:xfrm>
            <a:off x="4515047" y="365251"/>
            <a:ext cx="2640562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各类数据意义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D6B59BB-2CCD-9EB6-678C-42B2E49B7191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 bwMode="auto">
          <a:xfrm flipH="1">
            <a:off x="3595302" y="950026"/>
            <a:ext cx="2240026" cy="60624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C8B7BFD-E3FA-AD65-504A-82352E1FCFD0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 bwMode="auto">
          <a:xfrm>
            <a:off x="5835328" y="950026"/>
            <a:ext cx="2208145" cy="60624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FD0CC40D-BDE2-9BE8-C368-FA02E6CF6E45}"/>
              </a:ext>
            </a:extLst>
          </p:cNvPr>
          <p:cNvSpPr txBox="1"/>
          <p:nvPr/>
        </p:nvSpPr>
        <p:spPr>
          <a:xfrm>
            <a:off x="7778912" y="4501303"/>
            <a:ext cx="66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脚本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96B9169-C7EE-1491-D879-AE67014111F7}"/>
              </a:ext>
            </a:extLst>
          </p:cNvPr>
          <p:cNvSpPr txBox="1"/>
          <p:nvPr/>
        </p:nvSpPr>
        <p:spPr>
          <a:xfrm>
            <a:off x="6889885" y="4870635"/>
            <a:ext cx="2492085" cy="1938992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generate_ecommerce_data</a:t>
            </a:r>
            <a:br>
              <a:rPr lang="en-US" altLang="zh-CN" sz="2000" dirty="0"/>
            </a:b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br>
              <a:rPr lang="en-US" altLang="zh-CN" sz="2000" dirty="0"/>
            </a:br>
            <a:r>
              <a:rPr lang="en-US" altLang="zh-CN" sz="2000" dirty="0" err="1"/>
              <a:t>kafka_order_producer</a:t>
            </a:r>
            <a:endParaRPr lang="zh-CN" altLang="en-US" sz="2000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E29BA64B-A2D8-91F5-7171-A161B2B11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249" y="4870635"/>
            <a:ext cx="2248214" cy="1938992"/>
          </a:xfrm>
          <a:prstGeom prst="rect">
            <a:avLst/>
          </a:prstGeom>
          <a:solidFill>
            <a:schemeClr val="bg2"/>
          </a:solidFill>
          <a:ln w="25400">
            <a:solidFill>
              <a:schemeClr val="tx1"/>
            </a:solidFill>
          </a:ln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1CA16AE3-C771-ED25-28B4-7473B46F50E3}"/>
              </a:ext>
            </a:extLst>
          </p:cNvPr>
          <p:cNvSpPr txBox="1"/>
          <p:nvPr/>
        </p:nvSpPr>
        <p:spPr>
          <a:xfrm>
            <a:off x="3231015" y="4501303"/>
            <a:ext cx="95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MySQL</a:t>
            </a:r>
            <a:endParaRPr lang="zh-CN" altLang="en-US" dirty="0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27B9523-0EC3-5984-BA15-25111D135F57}"/>
              </a:ext>
            </a:extLst>
          </p:cNvPr>
          <p:cNvCxnSpPr>
            <a:stCxn id="4" idx="2"/>
            <a:endCxn id="35" idx="0"/>
          </p:cNvCxnSpPr>
          <p:nvPr/>
        </p:nvCxnSpPr>
        <p:spPr bwMode="auto">
          <a:xfrm flipH="1">
            <a:off x="3709600" y="3901141"/>
            <a:ext cx="1" cy="600162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3E297B4-8EEA-D536-FE5B-5A7D68B356C7}"/>
              </a:ext>
            </a:extLst>
          </p:cNvPr>
          <p:cNvCxnSpPr>
            <a:stCxn id="22" idx="0"/>
            <a:endCxn id="8" idx="2"/>
          </p:cNvCxnSpPr>
          <p:nvPr/>
        </p:nvCxnSpPr>
        <p:spPr bwMode="auto">
          <a:xfrm flipV="1">
            <a:off x="8110149" y="3901140"/>
            <a:ext cx="0" cy="600163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87475780-AE78-820D-16C1-DC0EBDB70961}"/>
              </a:ext>
            </a:extLst>
          </p:cNvPr>
          <p:cNvCxnSpPr>
            <a:stCxn id="8" idx="1"/>
            <a:endCxn id="4" idx="3"/>
          </p:cNvCxnSpPr>
          <p:nvPr/>
        </p:nvCxnSpPr>
        <p:spPr bwMode="auto">
          <a:xfrm flipH="1">
            <a:off x="4895463" y="2931644"/>
            <a:ext cx="1828796" cy="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159752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54CEAB7-2759-B00E-7E26-90B9968B6071}"/>
              </a:ext>
            </a:extLst>
          </p:cNvPr>
          <p:cNvSpPr txBox="1"/>
          <p:nvPr/>
        </p:nvSpPr>
        <p:spPr>
          <a:xfrm>
            <a:off x="4586663" y="871120"/>
            <a:ext cx="3000374" cy="33855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ads_sales_time_trend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CB7692D-C276-5AEA-6C40-0ADAF7BA0FFF}"/>
              </a:ext>
            </a:extLst>
          </p:cNvPr>
          <p:cNvSpPr txBox="1"/>
          <p:nvPr/>
        </p:nvSpPr>
        <p:spPr>
          <a:xfrm>
            <a:off x="4233961" y="317626"/>
            <a:ext cx="372407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MySQL</a:t>
            </a:r>
            <a:r>
              <a:rPr lang="zh-CN" altLang="en-US" sz="3200" dirty="0"/>
              <a:t>数据表展示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EDB6489-F864-E44E-15FF-77E0DF39A5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5" y="1216376"/>
            <a:ext cx="10820399" cy="5641624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95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17DDE2F-0D04-A327-503F-85E54A495AB5}"/>
              </a:ext>
            </a:extLst>
          </p:cNvPr>
          <p:cNvSpPr txBox="1"/>
          <p:nvPr/>
        </p:nvSpPr>
        <p:spPr>
          <a:xfrm>
            <a:off x="4586663" y="871120"/>
            <a:ext cx="3000374" cy="33855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ads_category_sales_rank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BF4EA6-28A5-7904-4A1B-01440D3EE716}"/>
              </a:ext>
            </a:extLst>
          </p:cNvPr>
          <p:cNvSpPr txBox="1"/>
          <p:nvPr/>
        </p:nvSpPr>
        <p:spPr>
          <a:xfrm>
            <a:off x="4233961" y="317626"/>
            <a:ext cx="372407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MySQL</a:t>
            </a:r>
            <a:r>
              <a:rPr lang="zh-CN" altLang="en-US" sz="3200" dirty="0"/>
              <a:t>数据表展示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7E418FA-7AA7-3CC0-A8C9-45BD66A92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6" y="1209674"/>
            <a:ext cx="10848974" cy="564832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2305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FA033D2-2CA5-57AD-76CB-80B996832AEC}"/>
              </a:ext>
            </a:extLst>
          </p:cNvPr>
          <p:cNvSpPr txBox="1"/>
          <p:nvPr/>
        </p:nvSpPr>
        <p:spPr>
          <a:xfrm>
            <a:off x="4586663" y="871120"/>
            <a:ext cx="3000374" cy="33855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dirty="0" err="1"/>
              <a:t>ads_user_value_level</a:t>
            </a:r>
            <a:endParaRPr lang="zh-CN" altLang="en-US" sz="1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E05DFE8-90E1-E6A3-27DB-BF811E932BA6}"/>
              </a:ext>
            </a:extLst>
          </p:cNvPr>
          <p:cNvSpPr txBox="1"/>
          <p:nvPr/>
        </p:nvSpPr>
        <p:spPr>
          <a:xfrm>
            <a:off x="4233961" y="317626"/>
            <a:ext cx="372407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MySQL</a:t>
            </a:r>
            <a:r>
              <a:rPr lang="zh-CN" altLang="en-US" sz="3200" dirty="0"/>
              <a:t>数据表展示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ED76F2-803C-4FD7-82E6-712FE976AE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6" y="1209674"/>
            <a:ext cx="10782299" cy="564832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5574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403C1612-BEDC-6625-DA77-83C67DFF2D58}"/>
              </a:ext>
            </a:extLst>
          </p:cNvPr>
          <p:cNvSpPr txBox="1"/>
          <p:nvPr/>
        </p:nvSpPr>
        <p:spPr>
          <a:xfrm>
            <a:off x="4586663" y="871120"/>
            <a:ext cx="3000374" cy="338554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dirty="0"/>
              <a:t>ads_category_association_rules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2846FAE-0FE0-38F4-596B-82A78BD8A47F}"/>
              </a:ext>
            </a:extLst>
          </p:cNvPr>
          <p:cNvSpPr txBox="1"/>
          <p:nvPr/>
        </p:nvSpPr>
        <p:spPr>
          <a:xfrm>
            <a:off x="4233961" y="317626"/>
            <a:ext cx="372407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MySQL</a:t>
            </a:r>
            <a:r>
              <a:rPr lang="zh-CN" altLang="en-US" sz="3200" dirty="0"/>
              <a:t>数据表展示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87D47B-7461-4B51-2CC5-CB37CC6B5F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6" y="1209674"/>
            <a:ext cx="10744948" cy="564832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5015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9F7BC02-4003-49D0-F861-296BD5B763AA}"/>
              </a:ext>
            </a:extLst>
          </p:cNvPr>
          <p:cNvSpPr txBox="1"/>
          <p:nvPr/>
        </p:nvSpPr>
        <p:spPr>
          <a:xfrm>
            <a:off x="4750643" y="327151"/>
            <a:ext cx="2690714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运行命令展示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7D244FA-42EE-8AB3-8937-433F9C8E3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354" y="1580743"/>
            <a:ext cx="5784646" cy="527725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2D1BD26-20C8-82DB-F967-E8448CCAB4F9}"/>
              </a:ext>
            </a:extLst>
          </p:cNvPr>
          <p:cNvSpPr txBox="1"/>
          <p:nvPr/>
        </p:nvSpPr>
        <p:spPr>
          <a:xfrm>
            <a:off x="311354" y="1211411"/>
            <a:ext cx="5765597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本地mysql建立spark独立用户并建表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1E62A1F-03FC-688A-4B50-4C6FAD536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80742"/>
            <a:ext cx="5784646" cy="527725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F030764-9801-FB3F-B105-370EA6AFCB05}"/>
              </a:ext>
            </a:extLst>
          </p:cNvPr>
          <p:cNvSpPr txBox="1"/>
          <p:nvPr/>
        </p:nvSpPr>
        <p:spPr>
          <a:xfrm>
            <a:off x="6076950" y="1206794"/>
            <a:ext cx="5803695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集群模式下执行spark四个离线分析导入mysql的命令</a:t>
            </a:r>
          </a:p>
        </p:txBody>
      </p:sp>
    </p:spTree>
    <p:extLst>
      <p:ext uri="{BB962C8B-B14F-4D97-AF65-F5344CB8AC3E}">
        <p14:creationId xmlns:p14="http://schemas.microsoft.com/office/powerpoint/2010/main" val="966379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42F9874-2FFD-BD9C-EE77-601F118553C9}"/>
              </a:ext>
            </a:extLst>
          </p:cNvPr>
          <p:cNvSpPr txBox="1"/>
          <p:nvPr/>
        </p:nvSpPr>
        <p:spPr>
          <a:xfrm>
            <a:off x="0" y="954642"/>
            <a:ext cx="60960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离线查询入口</a:t>
            </a:r>
          </a:p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6056BB-556C-5FB2-F6D8-ACE8A205D78D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查询参数配置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F6D23C-B438-B926-F081-D3BE36FD9C5E}"/>
              </a:ext>
            </a:extLst>
          </p:cNvPr>
          <p:cNvSpPr txBox="1"/>
          <p:nvPr/>
        </p:nvSpPr>
        <p:spPr>
          <a:xfrm>
            <a:off x="3970437" y="262146"/>
            <a:ext cx="425111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数据分析项目代码展示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FF94C5BA-4878-7053-F6F0-5BED4AE298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975"/>
            <a:ext cx="6095996" cy="55340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F09CAD7-8F22-AAD0-65E6-A79A9A838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6" y="1323974"/>
            <a:ext cx="6096004" cy="553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997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4F3CF9-B381-2CB5-4CF9-B37BE31B933F}"/>
              </a:ext>
            </a:extLst>
          </p:cNvPr>
          <p:cNvSpPr txBox="1"/>
          <p:nvPr/>
        </p:nvSpPr>
        <p:spPr>
          <a:xfrm>
            <a:off x="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销售趋势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1F4F21-17A0-CAD8-FFC5-1030D675867A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品类排行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21DCF6-E4A1-1813-CEA3-EF50D681B557}"/>
              </a:ext>
            </a:extLst>
          </p:cNvPr>
          <p:cNvSpPr txBox="1"/>
          <p:nvPr/>
        </p:nvSpPr>
        <p:spPr>
          <a:xfrm>
            <a:off x="3970437" y="262146"/>
            <a:ext cx="425111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数据分析项目代码展示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00B6CBB-CD28-2FB8-5EE2-022E69BED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23975"/>
            <a:ext cx="6095996" cy="55340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E0427D5-83E0-8496-A19B-FD764F1C0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6" y="1334272"/>
            <a:ext cx="6096003" cy="55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73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A13FE2C-ACBF-4921-AC3D-DDE43BFAD768}"/>
              </a:ext>
            </a:extLst>
          </p:cNvPr>
          <p:cNvSpPr txBox="1"/>
          <p:nvPr/>
        </p:nvSpPr>
        <p:spPr>
          <a:xfrm>
            <a:off x="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用户分层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62FEFE-658B-49D1-3775-080D71E831C2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用户分层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B56408-ED93-6D7F-2139-31F1EC444101}"/>
              </a:ext>
            </a:extLst>
          </p:cNvPr>
          <p:cNvSpPr txBox="1"/>
          <p:nvPr/>
        </p:nvSpPr>
        <p:spPr>
          <a:xfrm>
            <a:off x="3970437" y="262146"/>
            <a:ext cx="425111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数据分析项目代码展示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DCE7AF4-873A-F0AE-393B-5C25AC523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34272"/>
            <a:ext cx="6095996" cy="55237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BBC7C48-D2B2-EC05-68BF-3D133009C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1334272"/>
            <a:ext cx="6096003" cy="55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07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54EB64BA-1F42-89DB-911D-0B07C99B7EA7}"/>
              </a:ext>
            </a:extLst>
          </p:cNvPr>
          <p:cNvSpPr txBox="1"/>
          <p:nvPr/>
        </p:nvSpPr>
        <p:spPr>
          <a:xfrm>
            <a:off x="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品类关联规则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32AF19-F048-D5FF-F26B-5BC28FC15EB8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品类关联规则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5745340-1ADA-4A86-9220-52854D5C532A}"/>
              </a:ext>
            </a:extLst>
          </p:cNvPr>
          <p:cNvSpPr txBox="1"/>
          <p:nvPr/>
        </p:nvSpPr>
        <p:spPr>
          <a:xfrm>
            <a:off x="3970437" y="262146"/>
            <a:ext cx="425111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数据分析项目代码展示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9F34CD9-CAEC-0336-E000-20724D961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4272"/>
            <a:ext cx="6095997" cy="552372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FF1FE64-BE4D-3CDC-FFF3-43BBFFF71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1334272"/>
            <a:ext cx="6095997" cy="55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253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EE75CF0-28E5-82FA-A0E7-ECDDB4454248}"/>
              </a:ext>
            </a:extLst>
          </p:cNvPr>
          <p:cNvSpPr txBox="1"/>
          <p:nvPr/>
        </p:nvSpPr>
        <p:spPr>
          <a:xfrm>
            <a:off x="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实时查询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9AD82A-C5D5-58EE-EF50-8B2E97317880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实时查询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D3F3D2-FF69-FDD3-3B72-4C3336D771F0}"/>
              </a:ext>
            </a:extLst>
          </p:cNvPr>
          <p:cNvSpPr txBox="1"/>
          <p:nvPr/>
        </p:nvSpPr>
        <p:spPr>
          <a:xfrm>
            <a:off x="3970437" y="262146"/>
            <a:ext cx="4251118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数据分析项目代码展示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4E69F0-3283-5BC4-D4FB-91F067107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4272"/>
            <a:ext cx="6095997" cy="552372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4381926-BF76-A178-0B84-32D13B890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4" y="1323974"/>
            <a:ext cx="6096001" cy="552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43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5A8B243-9156-A8B4-399D-897D5C813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974"/>
            <a:ext cx="6096001" cy="55340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953D013-9885-BCD5-FB83-A79B6898A7E0}"/>
              </a:ext>
            </a:extLst>
          </p:cNvPr>
          <p:cNvSpPr txBox="1"/>
          <p:nvPr/>
        </p:nvSpPr>
        <p:spPr>
          <a:xfrm>
            <a:off x="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主入口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3F91F6-48F9-D943-BDF9-645BEB9B6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323974"/>
            <a:ext cx="6096000" cy="553402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764BE74-2E00-74F8-126D-ECEF8AFCFDDD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配置项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9297A7-21BC-9AB0-20F1-DADD87F673A4}"/>
              </a:ext>
            </a:extLst>
          </p:cNvPr>
          <p:cNvSpPr txBox="1"/>
          <p:nvPr/>
        </p:nvSpPr>
        <p:spPr>
          <a:xfrm>
            <a:off x="3721306" y="262146"/>
            <a:ext cx="4749379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Web</a:t>
            </a:r>
            <a:r>
              <a:rPr lang="zh-CN" altLang="en-US" sz="3200" dirty="0"/>
              <a:t>可视化项目代码展示</a:t>
            </a:r>
          </a:p>
        </p:txBody>
      </p:sp>
    </p:spTree>
    <p:extLst>
      <p:ext uri="{BB962C8B-B14F-4D97-AF65-F5344CB8AC3E}">
        <p14:creationId xmlns:p14="http://schemas.microsoft.com/office/powerpoint/2010/main" val="2340692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90D0DB18-721B-2161-AE89-557F768D07DB}"/>
              </a:ext>
            </a:extLst>
          </p:cNvPr>
          <p:cNvSpPr txBox="1"/>
          <p:nvPr/>
        </p:nvSpPr>
        <p:spPr>
          <a:xfrm>
            <a:off x="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初始化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519B6CF-7A4B-253F-B035-D43A09B484C2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销售趋势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8643C46-8086-159A-0808-7046C514B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974"/>
            <a:ext cx="6095998" cy="55340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0C6A4C0-CC27-89F0-9F45-CF13DB040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8" y="1323974"/>
            <a:ext cx="6096000" cy="553402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AC6F136E-BBE7-399B-4D39-FA4974F0A43B}"/>
              </a:ext>
            </a:extLst>
          </p:cNvPr>
          <p:cNvSpPr txBox="1"/>
          <p:nvPr/>
        </p:nvSpPr>
        <p:spPr>
          <a:xfrm>
            <a:off x="3721306" y="262146"/>
            <a:ext cx="4749379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Web</a:t>
            </a:r>
            <a:r>
              <a:rPr lang="zh-CN" altLang="en-US" sz="3200" dirty="0"/>
              <a:t>可视化项目代码展示</a:t>
            </a:r>
          </a:p>
        </p:txBody>
      </p:sp>
    </p:spTree>
    <p:extLst>
      <p:ext uri="{BB962C8B-B14F-4D97-AF65-F5344CB8AC3E}">
        <p14:creationId xmlns:p14="http://schemas.microsoft.com/office/powerpoint/2010/main" val="3177650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C8D49A9-3576-6B0C-12E4-FBF079B348E2}"/>
              </a:ext>
            </a:extLst>
          </p:cNvPr>
          <p:cNvSpPr txBox="1"/>
          <p:nvPr/>
        </p:nvSpPr>
        <p:spPr>
          <a:xfrm>
            <a:off x="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品类排行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3F3945B-18B1-5241-CBDC-0FDCF3D2BEE3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用户价值分层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C04637E-EA22-0FEC-A552-555E6569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323974"/>
            <a:ext cx="6095996" cy="553402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DEBF8F1-5AEA-0A2E-E58A-1F6E46934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1323974"/>
            <a:ext cx="6096000" cy="5534026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80B59D8-8F4A-3347-90AD-46E0AE82A3C8}"/>
              </a:ext>
            </a:extLst>
          </p:cNvPr>
          <p:cNvSpPr txBox="1"/>
          <p:nvPr/>
        </p:nvSpPr>
        <p:spPr>
          <a:xfrm>
            <a:off x="3721307" y="262146"/>
            <a:ext cx="4749379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Web</a:t>
            </a:r>
            <a:r>
              <a:rPr lang="zh-CN" altLang="en-US" sz="3200" dirty="0"/>
              <a:t>可视化项目代码展示</a:t>
            </a:r>
          </a:p>
        </p:txBody>
      </p:sp>
    </p:spTree>
    <p:extLst>
      <p:ext uri="{BB962C8B-B14F-4D97-AF65-F5344CB8AC3E}">
        <p14:creationId xmlns:p14="http://schemas.microsoft.com/office/powerpoint/2010/main" val="3854729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2D83B41-6E1E-12F9-5F67-57F3541E32FE}"/>
              </a:ext>
            </a:extLst>
          </p:cNvPr>
          <p:cNvSpPr txBox="1"/>
          <p:nvPr/>
        </p:nvSpPr>
        <p:spPr>
          <a:xfrm>
            <a:off x="0" y="954642"/>
            <a:ext cx="60960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品类关联规则</a:t>
            </a:r>
          </a:p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24480D-CB12-1D15-67AE-FB71CB264D24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实时销售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35A33D5-29E2-8EBC-6904-1D65FE533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3974"/>
            <a:ext cx="6096003" cy="55340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F0B1CF9-3D58-81A8-B29B-DBE9E3D39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7" y="1328945"/>
            <a:ext cx="6096003" cy="5529055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67A17F0-49B5-7183-C271-BB1E3A0D4D85}"/>
              </a:ext>
            </a:extLst>
          </p:cNvPr>
          <p:cNvSpPr txBox="1"/>
          <p:nvPr/>
        </p:nvSpPr>
        <p:spPr>
          <a:xfrm>
            <a:off x="3721307" y="262146"/>
            <a:ext cx="4749379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Web</a:t>
            </a:r>
            <a:r>
              <a:rPr lang="zh-CN" altLang="en-US" sz="3200" dirty="0"/>
              <a:t>可视化项目代码展示</a:t>
            </a:r>
          </a:p>
        </p:txBody>
      </p:sp>
    </p:spTree>
    <p:extLst>
      <p:ext uri="{BB962C8B-B14F-4D97-AF65-F5344CB8AC3E}">
        <p14:creationId xmlns:p14="http://schemas.microsoft.com/office/powerpoint/2010/main" val="3035935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B75C461C-AD09-0C12-9176-ECD3536A0B57}"/>
              </a:ext>
            </a:extLst>
          </p:cNvPr>
          <p:cNvSpPr txBox="1"/>
          <p:nvPr/>
        </p:nvSpPr>
        <p:spPr>
          <a:xfrm>
            <a:off x="0" y="954642"/>
            <a:ext cx="609600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加载任务</a:t>
            </a:r>
          </a:p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2D3996-2C07-8C9D-2219-94536D5EB64B}"/>
              </a:ext>
            </a:extLst>
          </p:cNvPr>
          <p:cNvSpPr txBox="1"/>
          <p:nvPr/>
        </p:nvSpPr>
        <p:spPr>
          <a:xfrm>
            <a:off x="6096000" y="954642"/>
            <a:ext cx="6096000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开始函数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4FA0587-998F-100A-C321-A1A6920AC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23975"/>
            <a:ext cx="6095997" cy="55340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1F97D1-4BED-F8ED-125A-B42082C6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6" y="1323975"/>
            <a:ext cx="6096004" cy="553402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A3C4924-426D-D493-4408-F1D47AC30F39}"/>
              </a:ext>
            </a:extLst>
          </p:cNvPr>
          <p:cNvSpPr txBox="1"/>
          <p:nvPr/>
        </p:nvSpPr>
        <p:spPr>
          <a:xfrm>
            <a:off x="3721306" y="262146"/>
            <a:ext cx="4749379" cy="58477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Web</a:t>
            </a:r>
            <a:r>
              <a:rPr lang="zh-CN" altLang="en-US" sz="3200" dirty="0"/>
              <a:t>可视化项目代码展示</a:t>
            </a:r>
          </a:p>
        </p:txBody>
      </p:sp>
    </p:spTree>
    <p:extLst>
      <p:ext uri="{BB962C8B-B14F-4D97-AF65-F5344CB8AC3E}">
        <p14:creationId xmlns:p14="http://schemas.microsoft.com/office/powerpoint/2010/main" val="3016959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DC66088E-8F6F-68F7-CE28-8C32DB662C16}"/>
              </a:ext>
            </a:extLst>
          </p:cNvPr>
          <p:cNvSpPr txBox="1"/>
          <p:nvPr/>
        </p:nvSpPr>
        <p:spPr>
          <a:xfrm>
            <a:off x="9794081" y="3185012"/>
            <a:ext cx="1726161" cy="40011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 err="1"/>
              <a:t>Flask+Echarts</a:t>
            </a:r>
            <a:endParaRPr lang="zh-CN" altLang="en-US" sz="20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31A4D1-CBA3-ECFE-EE00-38E1E0455203}"/>
              </a:ext>
            </a:extLst>
          </p:cNvPr>
          <p:cNvSpPr txBox="1"/>
          <p:nvPr/>
        </p:nvSpPr>
        <p:spPr>
          <a:xfrm>
            <a:off x="381000" y="3895725"/>
            <a:ext cx="7115756" cy="2628892"/>
          </a:xfrm>
          <a:prstGeom prst="rect">
            <a:avLst/>
          </a:prstGeom>
          <a:solidFill>
            <a:srgbClr val="FFCC99"/>
          </a:solidFill>
          <a:ln w="254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l"/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DEF405-CCC2-1146-9285-59D8BE121162}"/>
              </a:ext>
            </a:extLst>
          </p:cNvPr>
          <p:cNvSpPr txBox="1"/>
          <p:nvPr/>
        </p:nvSpPr>
        <p:spPr>
          <a:xfrm>
            <a:off x="2397918" y="853272"/>
            <a:ext cx="7396163" cy="70788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dirty="0"/>
              <a:t>接下来手动演示实时分析的流程</a:t>
            </a:r>
            <a:r>
              <a:rPr lang="en-US" altLang="zh-CN" sz="4000" dirty="0"/>
              <a:t>!</a:t>
            </a:r>
          </a:p>
        </p:txBody>
      </p:sp>
      <p:sp>
        <p:nvSpPr>
          <p:cNvPr id="5" name="流程图: 卡片 4">
            <a:extLst>
              <a:ext uri="{FF2B5EF4-FFF2-40B4-BE49-F238E27FC236}">
                <a16:creationId xmlns:a16="http://schemas.microsoft.com/office/drawing/2014/main" id="{EF0BB6B7-3391-98E8-854E-45A2CED47FCF}"/>
              </a:ext>
            </a:extLst>
          </p:cNvPr>
          <p:cNvSpPr/>
          <p:nvPr/>
        </p:nvSpPr>
        <p:spPr bwMode="auto">
          <a:xfrm>
            <a:off x="1082352" y="2358701"/>
            <a:ext cx="839754" cy="1026367"/>
          </a:xfrm>
          <a:prstGeom prst="flowChartPunchedCard">
            <a:avLst/>
          </a:prstGeom>
          <a:solidFill>
            <a:srgbClr val="FFCC99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DA4F19-E165-5772-F92B-E0DBEB681457}"/>
              </a:ext>
            </a:extLst>
          </p:cNvPr>
          <p:cNvSpPr txBox="1"/>
          <p:nvPr/>
        </p:nvSpPr>
        <p:spPr>
          <a:xfrm>
            <a:off x="1082352" y="2687218"/>
            <a:ext cx="1110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数据集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5787932-2AD5-7A89-0B31-F19A868850D5}"/>
              </a:ext>
            </a:extLst>
          </p:cNvPr>
          <p:cNvCxnSpPr>
            <a:cxnSpLocks/>
            <a:endCxn id="8" idx="2"/>
          </p:cNvCxnSpPr>
          <p:nvPr/>
        </p:nvCxnSpPr>
        <p:spPr bwMode="auto">
          <a:xfrm>
            <a:off x="1912776" y="2871884"/>
            <a:ext cx="1315617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8" name="圆柱体 7">
            <a:extLst>
              <a:ext uri="{FF2B5EF4-FFF2-40B4-BE49-F238E27FC236}">
                <a16:creationId xmlns:a16="http://schemas.microsoft.com/office/drawing/2014/main" id="{C8F64387-6F02-5050-42AF-A2EEEC071563}"/>
              </a:ext>
            </a:extLst>
          </p:cNvPr>
          <p:cNvSpPr/>
          <p:nvPr/>
        </p:nvSpPr>
        <p:spPr bwMode="auto">
          <a:xfrm>
            <a:off x="3228393" y="2358701"/>
            <a:ext cx="774441" cy="1026366"/>
          </a:xfrm>
          <a:prstGeom prst="can">
            <a:avLst/>
          </a:pr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82DF29-6CCC-8C35-5E6C-BE27030E1C25}"/>
              </a:ext>
            </a:extLst>
          </p:cNvPr>
          <p:cNvSpPr txBox="1"/>
          <p:nvPr/>
        </p:nvSpPr>
        <p:spPr>
          <a:xfrm>
            <a:off x="3256385" y="2721746"/>
            <a:ext cx="839754" cy="377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HDFS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6A26E97-0F4C-08EA-00C3-8C9235BA8D11}"/>
              </a:ext>
            </a:extLst>
          </p:cNvPr>
          <p:cNvCxnSpPr>
            <a:cxnSpLocks/>
          </p:cNvCxnSpPr>
          <p:nvPr/>
        </p:nvCxnSpPr>
        <p:spPr bwMode="auto">
          <a:xfrm>
            <a:off x="4002834" y="2865663"/>
            <a:ext cx="1315617" cy="0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264A11A-5EA8-8BBB-1D86-85159ABCC0FB}"/>
              </a:ext>
            </a:extLst>
          </p:cNvPr>
          <p:cNvSpPr/>
          <p:nvPr/>
        </p:nvSpPr>
        <p:spPr bwMode="auto">
          <a:xfrm>
            <a:off x="5318451" y="2419695"/>
            <a:ext cx="1726161" cy="913711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961B39-0625-AA7A-A0A7-E9AA9D2A7428}"/>
              </a:ext>
            </a:extLst>
          </p:cNvPr>
          <p:cNvSpPr txBox="1"/>
          <p:nvPr/>
        </p:nvSpPr>
        <p:spPr>
          <a:xfrm>
            <a:off x="5346444" y="2680997"/>
            <a:ext cx="1726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Spark on YARN</a:t>
            </a:r>
            <a:endParaRPr lang="zh-CN" altLang="en-US" dirty="0"/>
          </a:p>
        </p:txBody>
      </p:sp>
      <p:sp>
        <p:nvSpPr>
          <p:cNvPr id="13" name="圆柱体 12">
            <a:extLst>
              <a:ext uri="{FF2B5EF4-FFF2-40B4-BE49-F238E27FC236}">
                <a16:creationId xmlns:a16="http://schemas.microsoft.com/office/drawing/2014/main" id="{951AC769-ECF6-78A0-FA35-E2214F1C0E1A}"/>
              </a:ext>
            </a:extLst>
          </p:cNvPr>
          <p:cNvSpPr/>
          <p:nvPr/>
        </p:nvSpPr>
        <p:spPr bwMode="auto">
          <a:xfrm>
            <a:off x="7883976" y="3752863"/>
            <a:ext cx="774441" cy="1026366"/>
          </a:xfrm>
          <a:prstGeom prst="can">
            <a:avLst/>
          </a:prstGeom>
          <a:solidFill>
            <a:srgbClr val="00B050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12229CF-59D5-1DC1-3202-8F2EB0B674E8}"/>
              </a:ext>
            </a:extLst>
          </p:cNvPr>
          <p:cNvSpPr txBox="1"/>
          <p:nvPr/>
        </p:nvSpPr>
        <p:spPr>
          <a:xfrm>
            <a:off x="7883976" y="4081380"/>
            <a:ext cx="114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mysql</a:t>
            </a:r>
            <a:endParaRPr lang="zh-CN" altLang="en-US" dirty="0"/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ECC7D4B8-3674-A781-B566-4EF58B6D4807}"/>
              </a:ext>
            </a:extLst>
          </p:cNvPr>
          <p:cNvCxnSpPr>
            <a:cxnSpLocks/>
          </p:cNvCxnSpPr>
          <p:nvPr/>
        </p:nvCxnSpPr>
        <p:spPr bwMode="auto">
          <a:xfrm>
            <a:off x="7053553" y="2865663"/>
            <a:ext cx="1217644" cy="887200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BDE2A1B5-7C37-CBF2-72AA-32BF0E8D62AA}"/>
              </a:ext>
            </a:extLst>
          </p:cNvPr>
          <p:cNvSpPr/>
          <p:nvPr/>
        </p:nvSpPr>
        <p:spPr bwMode="auto">
          <a:xfrm>
            <a:off x="10141985" y="3692214"/>
            <a:ext cx="1147666" cy="1184988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D89F00-2340-2E10-3244-F71A617F8AC0}"/>
              </a:ext>
            </a:extLst>
          </p:cNvPr>
          <p:cNvSpPr txBox="1"/>
          <p:nvPr/>
        </p:nvSpPr>
        <p:spPr>
          <a:xfrm>
            <a:off x="10160647" y="4081380"/>
            <a:ext cx="1147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Web</a:t>
            </a:r>
            <a:r>
              <a:rPr lang="zh-CN" altLang="en-US" dirty="0"/>
              <a:t>展示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4D24DAD-95E2-22A2-FB14-6B68C580AA59}"/>
              </a:ext>
            </a:extLst>
          </p:cNvPr>
          <p:cNvCxnSpPr>
            <a:cxnSpLocks/>
          </p:cNvCxnSpPr>
          <p:nvPr/>
        </p:nvCxnSpPr>
        <p:spPr bwMode="auto">
          <a:xfrm>
            <a:off x="8658417" y="4266046"/>
            <a:ext cx="1483568" cy="13231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19" name="流程图: 卡片 18">
            <a:extLst>
              <a:ext uri="{FF2B5EF4-FFF2-40B4-BE49-F238E27FC236}">
                <a16:creationId xmlns:a16="http://schemas.microsoft.com/office/drawing/2014/main" id="{3C140B50-1588-8FB2-B313-0BF43A44DEC1}"/>
              </a:ext>
            </a:extLst>
          </p:cNvPr>
          <p:cNvSpPr/>
          <p:nvPr/>
        </p:nvSpPr>
        <p:spPr bwMode="auto">
          <a:xfrm>
            <a:off x="1073022" y="4597076"/>
            <a:ext cx="839754" cy="1026367"/>
          </a:xfrm>
          <a:prstGeom prst="flowChartPunchedCard">
            <a:avLst/>
          </a:prstGeom>
          <a:solidFill>
            <a:srgbClr val="FFCC99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B352F10-4D4C-B093-8C63-1573F59239B3}"/>
              </a:ext>
            </a:extLst>
          </p:cNvPr>
          <p:cNvSpPr txBox="1"/>
          <p:nvPr/>
        </p:nvSpPr>
        <p:spPr>
          <a:xfrm>
            <a:off x="1073023" y="4696637"/>
            <a:ext cx="927228" cy="92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Json</a:t>
            </a:r>
            <a:r>
              <a:rPr lang="zh-CN" altLang="en-US" dirty="0"/>
              <a:t>结构化数据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3DB405A-9F33-14D0-0DCC-EDA970383CBF}"/>
              </a:ext>
            </a:extLst>
          </p:cNvPr>
          <p:cNvCxnSpPr>
            <a:cxnSpLocks/>
            <a:endCxn id="23" idx="1"/>
          </p:cNvCxnSpPr>
          <p:nvPr/>
        </p:nvCxnSpPr>
        <p:spPr bwMode="auto">
          <a:xfrm flipV="1">
            <a:off x="1906563" y="5153491"/>
            <a:ext cx="1310953" cy="6547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CF31F1E2-250F-8BD5-C9EA-DDC24E2FEB7A}"/>
              </a:ext>
            </a:extLst>
          </p:cNvPr>
          <p:cNvSpPr txBox="1"/>
          <p:nvPr/>
        </p:nvSpPr>
        <p:spPr>
          <a:xfrm>
            <a:off x="1892366" y="5175573"/>
            <a:ext cx="18303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Py</a:t>
            </a:r>
            <a:r>
              <a:rPr lang="zh-CN" altLang="en-US" sz="1000" dirty="0"/>
              <a:t>脚本模拟实时发送</a:t>
            </a:r>
            <a:endParaRPr lang="en-US" altLang="zh-CN" sz="10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E898FA3-2747-19DB-458F-6A75D1B1A84F}"/>
              </a:ext>
            </a:extLst>
          </p:cNvPr>
          <p:cNvSpPr/>
          <p:nvPr/>
        </p:nvSpPr>
        <p:spPr bwMode="auto">
          <a:xfrm>
            <a:off x="3217516" y="4696635"/>
            <a:ext cx="1074966" cy="913711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3BA28C-25B6-517D-282D-A7B180CD504C}"/>
              </a:ext>
            </a:extLst>
          </p:cNvPr>
          <p:cNvSpPr txBox="1"/>
          <p:nvPr/>
        </p:nvSpPr>
        <p:spPr>
          <a:xfrm>
            <a:off x="3381285" y="4968620"/>
            <a:ext cx="84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kafka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11D827A-C032-5247-5025-694649CF2494}"/>
              </a:ext>
            </a:extLst>
          </p:cNvPr>
          <p:cNvCxnSpPr>
            <a:cxnSpLocks/>
          </p:cNvCxnSpPr>
          <p:nvPr/>
        </p:nvCxnSpPr>
        <p:spPr bwMode="auto">
          <a:xfrm>
            <a:off x="4292482" y="5153286"/>
            <a:ext cx="938289" cy="6752"/>
          </a:xfrm>
          <a:prstGeom prst="straightConnector1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9E94011-EF66-191C-526A-2FA2D90A8270}"/>
              </a:ext>
            </a:extLst>
          </p:cNvPr>
          <p:cNvSpPr/>
          <p:nvPr/>
        </p:nvSpPr>
        <p:spPr bwMode="auto">
          <a:xfrm>
            <a:off x="5235070" y="4703182"/>
            <a:ext cx="1726161" cy="913711"/>
          </a:xfrm>
          <a:prstGeom prst="rect">
            <a:avLst/>
          </a:prstGeom>
          <a:solidFill>
            <a:schemeClr val="bg2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  <p:txBody>
          <a:bodyPr vert="horz" wrap="square" lIns="71437" tIns="71437" rIns="71437" bIns="71437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20738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5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Helvetica Light" charset="0"/>
              <a:ea typeface="Helvetica Light" charset="0"/>
              <a:cs typeface="Helvetica Light" charset="0"/>
              <a:sym typeface="Helvetica Light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97B604-59B7-3D0A-E42E-AF351CFACCDC}"/>
              </a:ext>
            </a:extLst>
          </p:cNvPr>
          <p:cNvSpPr txBox="1"/>
          <p:nvPr/>
        </p:nvSpPr>
        <p:spPr>
          <a:xfrm>
            <a:off x="5195014" y="4968620"/>
            <a:ext cx="1973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Spark Streaming</a:t>
            </a:r>
            <a:endParaRPr lang="zh-CN" altLang="en-US" dirty="0"/>
          </a:p>
        </p:txBody>
      </p:sp>
      <p:cxnSp>
        <p:nvCxnSpPr>
          <p:cNvPr id="28" name="连接符: 肘形 27">
            <a:extLst>
              <a:ext uri="{FF2B5EF4-FFF2-40B4-BE49-F238E27FC236}">
                <a16:creationId xmlns:a16="http://schemas.microsoft.com/office/drawing/2014/main" id="{272E92C3-424D-02F2-AC03-E5A44054B17F}"/>
              </a:ext>
            </a:extLst>
          </p:cNvPr>
          <p:cNvCxnSpPr>
            <a:endCxn id="13" idx="3"/>
          </p:cNvCxnSpPr>
          <p:nvPr/>
        </p:nvCxnSpPr>
        <p:spPr bwMode="auto">
          <a:xfrm flipV="1">
            <a:off x="6961231" y="4779229"/>
            <a:ext cx="1309966" cy="380808"/>
          </a:xfrm>
          <a:prstGeom prst="bentConnector2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triangle"/>
          </a:ln>
          <a:effectLst>
            <a:outerShdw blurRad="50800" dist="25400" dir="5400000" algn="ctr" rotWithShape="0">
              <a:srgbClr val="000000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1118773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lock&#10;&#10;Description automatically generated">
            <a:extLst>
              <a:ext uri="{FF2B5EF4-FFF2-40B4-BE49-F238E27FC236}">
                <a16:creationId xmlns:a16="http://schemas.microsoft.com/office/drawing/2014/main" id="{304E6E89-EA94-461E-9E91-9E396359F0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074" y="1177261"/>
            <a:ext cx="5818632" cy="413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84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A092B-428A-463A-9C1E-2B4C632FAEFF}"/>
              </a:ext>
            </a:extLst>
          </p:cNvPr>
          <p:cNvSpPr/>
          <p:nvPr/>
        </p:nvSpPr>
        <p:spPr>
          <a:xfrm>
            <a:off x="3162227" y="2718977"/>
            <a:ext cx="5363969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8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US" sz="8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9611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FFFFF"/>
      </a:accent3>
      <a:accent4>
        <a:srgbClr val="000000"/>
      </a:accent4>
      <a:accent5>
        <a:srgbClr val="AAB8DC"/>
      </a:accent5>
      <a:accent6>
        <a:srgbClr val="007B26"/>
      </a:accent6>
      <a:hlink>
        <a:srgbClr val="0000FF"/>
      </a:hlink>
      <a:folHlink>
        <a:srgbClr val="FF00FF"/>
      </a:folHlink>
    </a:clrScheme>
    <a:fontScheme name="White">
      <a:majorFont>
        <a:latin typeface="Lantinghei SC Heavy"/>
        <a:ea typeface="Lantinghei SC Heavy"/>
        <a:cs typeface="Lantinghei SC Heavy"/>
      </a:majorFont>
      <a:minorFont>
        <a:latin typeface="Helvetica Light"/>
        <a:ea typeface="Helvetica Light"/>
        <a:cs typeface="Helvetica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50000"/>
            </a:srgbClr>
          </a:outerShdw>
        </a:effectLst>
      </a:spPr>
      <a:bodyPr vert="horz" wrap="square" lIns="71437" tIns="71437" rIns="71437" bIns="71437" numCol="1" anchor="ctr" anchorCtr="0" compatLnSpc="1">
        <a:prstTxWarp prst="textNoShape">
          <a:avLst/>
        </a:prstTxWarp>
        <a:spAutoFit/>
      </a:bodyPr>
      <a:lstStyle>
        <a:defPPr marL="0" marR="0" indent="0" algn="ctr" defTabSz="820738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5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>
          <a:outerShdw blurRad="50800" dist="25400" dir="5400000" algn="ctr" rotWithShape="0">
            <a:srgbClr val="000000">
              <a:alpha val="50000"/>
            </a:srgbClr>
          </a:outerShdw>
        </a:effectLst>
      </a:spPr>
      <a:bodyPr vert="horz" wrap="square" lIns="71437" tIns="71437" rIns="71437" bIns="71437" numCol="1" anchor="ctr" anchorCtr="0" compatLnSpc="1">
        <a:prstTxWarp prst="textNoShape">
          <a:avLst/>
        </a:prstTxWarp>
        <a:spAutoFit/>
      </a:bodyPr>
      <a:lstStyle>
        <a:defPPr marL="0" marR="0" indent="0" algn="ctr" defTabSz="820738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zh-CN" sz="5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Light" charset="0"/>
            <a:ea typeface="Helvetica Light" charset="0"/>
            <a:cs typeface="Helvetica Light" charset="0"/>
            <a:sym typeface="Helvetica Light" charset="0"/>
          </a:defRPr>
        </a:defPPr>
      </a:lstStyle>
    </a:lnDef>
    <a:txDef>
      <a:spPr>
        <a:solidFill>
          <a:schemeClr val="bg2"/>
        </a:solidFill>
        <a:ln>
          <a:solidFill>
            <a:schemeClr val="tx1"/>
          </a:solidFill>
        </a:ln>
      </a:spPr>
      <a:bodyPr wrap="square" rtlCol="0">
        <a:spAutoFit/>
      </a:bodyPr>
      <a:lstStyle>
        <a:defPPr algn="l">
          <a:defRPr sz="20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ig Data v2.potx" id="{9C375FE3-222F-4AF7-B617-B54A143379D0}" vid="{D6C00BBA-7528-4C11-9820-E5A600D7323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330</Words>
  <Application>Microsoft Office PowerPoint</Application>
  <PresentationFormat>宽屏</PresentationFormat>
  <Paragraphs>83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Helvetica Light</vt:lpstr>
      <vt:lpstr>Lantinghei SC Heavy</vt:lpstr>
      <vt:lpstr>SimSun</vt:lpstr>
      <vt:lpstr>Arial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Gaurav Pandey</dc:creator>
  <cp:lastModifiedBy>zhengming chen</cp:lastModifiedBy>
  <cp:revision>191</cp:revision>
  <dcterms:created xsi:type="dcterms:W3CDTF">2018-12-12T03:00:50Z</dcterms:created>
  <dcterms:modified xsi:type="dcterms:W3CDTF">2026-07-01T03:21:34Z</dcterms:modified>
</cp:coreProperties>
</file>